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embeddedFontLst>
    <p:embeddedFont>
      <p:font typeface="Quattrocento Sans" charset="-122" pitchFamily="34"/>
      <p:regular r:id="rId18"/>
    </p:embeddedFont>
    <p:embeddedFont>
      <p:font typeface="Liter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e2a61991885f2ca545ba98d4189794dde9ce3c5f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2574" r="257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3A5F7A">
                  <a:alpha val="6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385763"/>
            <a:ext cx="1866900" cy="352425"/>
          </a:xfrm>
          <a:custGeom>
            <a:avLst/>
            <a:gdLst/>
            <a:ahLst/>
            <a:cxnLst/>
            <a:rect l="l" t="t" r="r" b="b"/>
            <a:pathLst>
              <a:path w="1866900" h="352425">
                <a:moveTo>
                  <a:pt x="38101" y="0"/>
                </a:moveTo>
                <a:lnTo>
                  <a:pt x="1828799" y="0"/>
                </a:lnTo>
                <a:cubicBezTo>
                  <a:pt x="1849842" y="0"/>
                  <a:pt x="1866900" y="17058"/>
                  <a:pt x="1866900" y="38101"/>
                </a:cubicBezTo>
                <a:lnTo>
                  <a:pt x="1866900" y="314324"/>
                </a:lnTo>
                <a:cubicBezTo>
                  <a:pt x="1866900" y="335367"/>
                  <a:pt x="1849842" y="352425"/>
                  <a:pt x="1828799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 w="12700">
            <a:solidFill>
              <a:srgbClr val="C5A56A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46672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Review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47875"/>
            <a:ext cx="74485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Vendor Performance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Commercial Efficiency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99097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8" name="Shape 5"/>
          <p:cNvSpPr/>
          <p:nvPr/>
        </p:nvSpPr>
        <p:spPr>
          <a:xfrm>
            <a:off x="1409700" y="3990975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9" name="Shape 6"/>
          <p:cNvSpPr/>
          <p:nvPr/>
        </p:nvSpPr>
        <p:spPr>
          <a:xfrm>
            <a:off x="1981200" y="3990975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10" name="Text 7"/>
          <p:cNvSpPr/>
          <p:nvPr/>
        </p:nvSpPr>
        <p:spPr>
          <a:xfrm>
            <a:off x="381000" y="4333875"/>
            <a:ext cx="721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Report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59436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621030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Nithin Arisetty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458896" y="594360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449371" y="6210300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Support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33500"/>
            <a:ext cx="5581650" cy="1581150"/>
          </a:xfrm>
          <a:custGeom>
            <a:avLst/>
            <a:gdLst/>
            <a:ahLst/>
            <a:cxnLst/>
            <a:rect l="l" t="t" r="r" b="b"/>
            <a:pathLst>
              <a:path w="5581650" h="1581150">
                <a:moveTo>
                  <a:pt x="0" y="0"/>
                </a:moveTo>
                <a:lnTo>
                  <a:pt x="5505454" y="0"/>
                </a:lnTo>
                <a:cubicBezTo>
                  <a:pt x="5547536" y="0"/>
                  <a:pt x="5581650" y="34114"/>
                  <a:pt x="5581650" y="76196"/>
                </a:cubicBezTo>
                <a:lnTo>
                  <a:pt x="5581650" y="1504954"/>
                </a:lnTo>
                <a:cubicBezTo>
                  <a:pt x="5581650" y="1547036"/>
                  <a:pt x="5547536" y="1581150"/>
                  <a:pt x="5505454" y="1581150"/>
                </a:cubicBez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14902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3350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6" name="Shape 4"/>
          <p:cNvSpPr/>
          <p:nvPr/>
        </p:nvSpPr>
        <p:spPr>
          <a:xfrm>
            <a:off x="6477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67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15621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Foundation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1943100"/>
            <a:ext cx="4572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performance demonstrates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healthy profitability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robust top-line revenue and margins, establishing a solid commercial foundation.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143250"/>
            <a:ext cx="5581650" cy="1581150"/>
          </a:xfrm>
          <a:custGeom>
            <a:avLst/>
            <a:gdLst/>
            <a:ahLst/>
            <a:cxnLst/>
            <a:rect l="l" t="t" r="r" b="b"/>
            <a:pathLst>
              <a:path w="5581650" h="1581150">
                <a:moveTo>
                  <a:pt x="0" y="0"/>
                </a:moveTo>
                <a:lnTo>
                  <a:pt x="5505454" y="0"/>
                </a:lnTo>
                <a:cubicBezTo>
                  <a:pt x="5547536" y="0"/>
                  <a:pt x="5581650" y="34114"/>
                  <a:pt x="5581650" y="76196"/>
                </a:cubicBezTo>
                <a:lnTo>
                  <a:pt x="5581650" y="1504954"/>
                </a:lnTo>
                <a:cubicBezTo>
                  <a:pt x="5581650" y="1547036"/>
                  <a:pt x="5547536" y="1581150"/>
                  <a:pt x="5505454" y="1581150"/>
                </a:cubicBez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14902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314325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700" y="3371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3486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" y="337185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Risks Identified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57300" y="3752850"/>
            <a:ext cx="4572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vendor concentration risk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top 10 vendors accounting for 65.7% of purchases, creating vulnerability to supply chain disruptions and pricing leverage imbalance.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29350" y="1333500"/>
            <a:ext cx="5581650" cy="1581150"/>
          </a:xfrm>
          <a:custGeom>
            <a:avLst/>
            <a:gdLst/>
            <a:ahLst/>
            <a:cxnLst/>
            <a:rect l="l" t="t" r="r" b="b"/>
            <a:pathLst>
              <a:path w="5581650" h="1581150">
                <a:moveTo>
                  <a:pt x="0" y="0"/>
                </a:moveTo>
                <a:lnTo>
                  <a:pt x="5505454" y="0"/>
                </a:lnTo>
                <a:cubicBezTo>
                  <a:pt x="5547536" y="0"/>
                  <a:pt x="5581650" y="34114"/>
                  <a:pt x="5581650" y="76196"/>
                </a:cubicBezTo>
                <a:lnTo>
                  <a:pt x="5581650" y="1504954"/>
                </a:lnTo>
                <a:cubicBezTo>
                  <a:pt x="5581650" y="1547036"/>
                  <a:pt x="5547536" y="1581150"/>
                  <a:pt x="5505454" y="1581150"/>
                </a:cubicBez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14902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29350" y="133350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70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91300" y="167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lnTo>
                  <a:pt x="100013" y="28575"/>
                </a:lnTo>
                <a:cubicBezTo>
                  <a:pt x="100013" y="32504"/>
                  <a:pt x="103227" y="35719"/>
                  <a:pt x="107156" y="35719"/>
                </a:cubicBezTo>
                <a:lnTo>
                  <a:pt x="121444" y="35719"/>
                </a:lnTo>
                <a:cubicBezTo>
                  <a:pt x="125373" y="35719"/>
                  <a:pt x="128588" y="32504"/>
                  <a:pt x="128588" y="28575"/>
                </a:cubicBezTo>
                <a:lnTo>
                  <a:pt x="128588" y="0"/>
                </a:lnTo>
                <a:lnTo>
                  <a:pt x="142875" y="0"/>
                </a:lnTo>
                <a:cubicBezTo>
                  <a:pt x="158636" y="0"/>
                  <a:pt x="171450" y="12814"/>
                  <a:pt x="171450" y="28575"/>
                </a:cubicBezTo>
                <a:lnTo>
                  <a:pt x="171450" y="85725"/>
                </a:lnTo>
                <a:cubicBezTo>
                  <a:pt x="171450" y="88181"/>
                  <a:pt x="171137" y="90592"/>
                  <a:pt x="170557" y="92869"/>
                </a:cubicBezTo>
                <a:lnTo>
                  <a:pt x="58043" y="92869"/>
                </a:lnTo>
                <a:cubicBezTo>
                  <a:pt x="57463" y="90592"/>
                  <a:pt x="57150" y="88181"/>
                  <a:pt x="57150" y="85725"/>
                </a:cubicBezTo>
                <a:lnTo>
                  <a:pt x="57150" y="28575"/>
                </a:lnTo>
                <a:cubicBezTo>
                  <a:pt x="57150" y="12814"/>
                  <a:pt x="69964" y="0"/>
                  <a:pt x="85725" y="0"/>
                </a:cubicBezTo>
                <a:lnTo>
                  <a:pt x="100013" y="0"/>
                </a:lnTo>
                <a:close/>
                <a:moveTo>
                  <a:pt x="142875" y="228600"/>
                </a:moveTo>
                <a:cubicBezTo>
                  <a:pt x="137874" y="228600"/>
                  <a:pt x="133142" y="227305"/>
                  <a:pt x="129034" y="225028"/>
                </a:cubicBezTo>
                <a:cubicBezTo>
                  <a:pt x="133276" y="217661"/>
                  <a:pt x="135731" y="209133"/>
                  <a:pt x="135731" y="200025"/>
                </a:cubicBezTo>
                <a:lnTo>
                  <a:pt x="135731" y="142875"/>
                </a:lnTo>
                <a:cubicBezTo>
                  <a:pt x="135731" y="133767"/>
                  <a:pt x="133276" y="125239"/>
                  <a:pt x="129034" y="117872"/>
                </a:cubicBezTo>
                <a:cubicBezTo>
                  <a:pt x="133142" y="115595"/>
                  <a:pt x="137830" y="114300"/>
                  <a:pt x="142875" y="114300"/>
                </a:cubicBezTo>
                <a:lnTo>
                  <a:pt x="157163" y="114300"/>
                </a:lnTo>
                <a:lnTo>
                  <a:pt x="157163" y="142875"/>
                </a:lnTo>
                <a:cubicBezTo>
                  <a:pt x="157163" y="146804"/>
                  <a:pt x="160377" y="150019"/>
                  <a:pt x="164306" y="150019"/>
                </a:cubicBezTo>
                <a:lnTo>
                  <a:pt x="178594" y="150019"/>
                </a:lnTo>
                <a:cubicBezTo>
                  <a:pt x="182523" y="150019"/>
                  <a:pt x="185738" y="146804"/>
                  <a:pt x="185738" y="142875"/>
                </a:cubicBezTo>
                <a:lnTo>
                  <a:pt x="185738" y="114300"/>
                </a:lnTo>
                <a:lnTo>
                  <a:pt x="200025" y="114300"/>
                </a:lnTo>
                <a:cubicBezTo>
                  <a:pt x="215786" y="114300"/>
                  <a:pt x="228600" y="127114"/>
                  <a:pt x="228600" y="142875"/>
                </a:cubicBezTo>
                <a:lnTo>
                  <a:pt x="228600" y="200025"/>
                </a:lnTo>
                <a:cubicBezTo>
                  <a:pt x="228600" y="215786"/>
                  <a:pt x="215786" y="228600"/>
                  <a:pt x="200025" y="228600"/>
                </a:cubicBezTo>
                <a:lnTo>
                  <a:pt x="142875" y="228600"/>
                </a:lnTo>
                <a:close/>
                <a:moveTo>
                  <a:pt x="0" y="142875"/>
                </a:moveTo>
                <a:cubicBezTo>
                  <a:pt x="0" y="127114"/>
                  <a:pt x="12814" y="114300"/>
                  <a:pt x="28575" y="114300"/>
                </a:cubicBezTo>
                <a:lnTo>
                  <a:pt x="42863" y="114300"/>
                </a:lnTo>
                <a:lnTo>
                  <a:pt x="42863" y="142875"/>
                </a:lnTo>
                <a:cubicBezTo>
                  <a:pt x="42863" y="146804"/>
                  <a:pt x="46077" y="150019"/>
                  <a:pt x="50006" y="150019"/>
                </a:cubicBezTo>
                <a:lnTo>
                  <a:pt x="64294" y="150019"/>
                </a:lnTo>
                <a:cubicBezTo>
                  <a:pt x="68223" y="150019"/>
                  <a:pt x="71438" y="146804"/>
                  <a:pt x="71438" y="142875"/>
                </a:cubicBezTo>
                <a:lnTo>
                  <a:pt x="71438" y="114300"/>
                </a:lnTo>
                <a:lnTo>
                  <a:pt x="85725" y="114300"/>
                </a:lnTo>
                <a:cubicBezTo>
                  <a:pt x="101486" y="114300"/>
                  <a:pt x="114300" y="127114"/>
                  <a:pt x="114300" y="142875"/>
                </a:cubicBezTo>
                <a:lnTo>
                  <a:pt x="114300" y="200025"/>
                </a:lnTo>
                <a:cubicBezTo>
                  <a:pt x="114300" y="215786"/>
                  <a:pt x="101486" y="228600"/>
                  <a:pt x="8572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42875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15621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Capital Efficiency Gap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1943100"/>
            <a:ext cx="4572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$2.71M locked in slow-moving inventory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representing untapped working capital and elevated risk of obsolescence requiring strategic intervention.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3143250"/>
            <a:ext cx="5581650" cy="1581150"/>
          </a:xfrm>
          <a:custGeom>
            <a:avLst/>
            <a:gdLst/>
            <a:ahLst/>
            <a:cxnLst/>
            <a:rect l="l" t="t" r="r" b="b"/>
            <a:pathLst>
              <a:path w="5581650" h="1581150">
                <a:moveTo>
                  <a:pt x="0" y="0"/>
                </a:moveTo>
                <a:lnTo>
                  <a:pt x="5505454" y="0"/>
                </a:lnTo>
                <a:cubicBezTo>
                  <a:pt x="5547536" y="0"/>
                  <a:pt x="5581650" y="34114"/>
                  <a:pt x="5581650" y="76196"/>
                </a:cubicBezTo>
                <a:lnTo>
                  <a:pt x="5581650" y="1504954"/>
                </a:lnTo>
                <a:cubicBezTo>
                  <a:pt x="5581650" y="1547036"/>
                  <a:pt x="5547536" y="1581150"/>
                  <a:pt x="5505454" y="1581150"/>
                </a:cubicBez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14902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29350" y="314325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7000" y="3371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62725" y="34861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337185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Profitability Models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3752850"/>
            <a:ext cx="4572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Distinct commercial strategies emerge: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high-volume moderate-margin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vs.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low-volume high-margin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vendors, each presenting unique optimization opportunities.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5763" y="5586413"/>
            <a:ext cx="11420475" cy="885825"/>
          </a:xfrm>
          <a:custGeom>
            <a:avLst/>
            <a:gdLst/>
            <a:ahLst/>
            <a:cxnLst/>
            <a:rect l="l" t="t" r="r" b="b"/>
            <a:pathLst>
              <a:path w="11420475" h="885825">
                <a:moveTo>
                  <a:pt x="76199" y="0"/>
                </a:moveTo>
                <a:lnTo>
                  <a:pt x="11344276" y="0"/>
                </a:lnTo>
                <a:cubicBezTo>
                  <a:pt x="11386360" y="0"/>
                  <a:pt x="11420475" y="34115"/>
                  <a:pt x="11420475" y="76199"/>
                </a:cubicBezTo>
                <a:lnTo>
                  <a:pt x="11420475" y="809626"/>
                </a:lnTo>
                <a:cubicBezTo>
                  <a:pt x="11420475" y="851710"/>
                  <a:pt x="11386360" y="885825"/>
                  <a:pt x="1134427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A">
                  <a:alpha val="20000"/>
                </a:srgbClr>
              </a:gs>
              <a:gs pos="100000">
                <a:srgbClr val="C5A56A">
                  <a:alpha val="20000"/>
                </a:srgbClr>
              </a:gs>
            </a:gsLst>
            <a:lin ang="0" scaled="1"/>
          </a:gradFill>
          <a:ln w="12700">
            <a:solidFill>
              <a:srgbClr val="C5A56A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125" y="58293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30" name="Text 28"/>
          <p:cNvSpPr/>
          <p:nvPr/>
        </p:nvSpPr>
        <p:spPr>
          <a:xfrm>
            <a:off x="828675" y="5781675"/>
            <a:ext cx="10858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Intent: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analysis provides leadership with data-driven insights to optimize pricing, vendor management, and inventory planning for enhanced profitability and operational resilience.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Context &amp;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38263"/>
            <a:ext cx="4429125" cy="5267325"/>
          </a:xfrm>
          <a:custGeom>
            <a:avLst/>
            <a:gdLst/>
            <a:ahLst/>
            <a:cxnLst/>
            <a:rect l="l" t="t" r="r" b="b"/>
            <a:pathLst>
              <a:path w="4429125" h="5267325">
                <a:moveTo>
                  <a:pt x="76181" y="0"/>
                </a:moveTo>
                <a:lnTo>
                  <a:pt x="4352944" y="0"/>
                </a:lnTo>
                <a:cubicBezTo>
                  <a:pt x="4395018" y="0"/>
                  <a:pt x="4429125" y="34107"/>
                  <a:pt x="4429125" y="76181"/>
                </a:cubicBezTo>
                <a:lnTo>
                  <a:pt x="4429125" y="5191144"/>
                </a:lnTo>
                <a:cubicBezTo>
                  <a:pt x="4429125" y="5233218"/>
                  <a:pt x="4395018" y="5267325"/>
                  <a:pt x="4352944" y="5267325"/>
                </a:cubicBezTo>
                <a:lnTo>
                  <a:pt x="76181" y="5267325"/>
                </a:lnTo>
                <a:cubicBezTo>
                  <a:pt x="34107" y="5267325"/>
                  <a:pt x="0" y="5233218"/>
                  <a:pt x="0" y="5191144"/>
                </a:cubicBezTo>
                <a:lnTo>
                  <a:pt x="0" y="76181"/>
                </a:lnTo>
                <a:cubicBezTo>
                  <a:pt x="0" y="34136"/>
                  <a:pt x="34136" y="0"/>
                  <a:pt x="76181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3425" y="1685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7" name="Text 5"/>
          <p:cNvSpPr/>
          <p:nvPr/>
        </p:nvSpPr>
        <p:spPr>
          <a:xfrm>
            <a:off x="1190625" y="1647825"/>
            <a:ext cx="2047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2219325"/>
            <a:ext cx="4038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Effective vendor and inventory management is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for sustaining profitability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retail and wholesale operations. Leadership requires visibility into key performance drivers to make informed strategic decisions.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8175" y="3438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0" name="Text 8"/>
          <p:cNvSpPr/>
          <p:nvPr/>
        </p:nvSpPr>
        <p:spPr>
          <a:xfrm>
            <a:off x="923925" y="3400425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Which vendors drive majority revenue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8175" y="3781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2" name="Text 10"/>
          <p:cNvSpPr/>
          <p:nvPr/>
        </p:nvSpPr>
        <p:spPr>
          <a:xfrm>
            <a:off x="923925" y="3743325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capital is tied in slow inventory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8175" y="4124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4" name="Text 12"/>
          <p:cNvSpPr/>
          <p:nvPr/>
        </p:nvSpPr>
        <p:spPr>
          <a:xfrm>
            <a:off x="923925" y="4086225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purchasing impacts unit costs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8175" y="4467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6" name="Text 14"/>
          <p:cNvSpPr/>
          <p:nvPr/>
        </p:nvSpPr>
        <p:spPr>
          <a:xfrm>
            <a:off x="923925" y="4429125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Whether pricing aligns with goals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49143" y="1338263"/>
            <a:ext cx="6753225" cy="923925"/>
          </a:xfrm>
          <a:custGeom>
            <a:avLst/>
            <a:gdLst/>
            <a:ahLst/>
            <a:cxnLst/>
            <a:rect l="l" t="t" r="r" b="b"/>
            <a:pathLst>
              <a:path w="6753225" h="923925">
                <a:moveTo>
                  <a:pt x="76196" y="0"/>
                </a:moveTo>
                <a:lnTo>
                  <a:pt x="6677029" y="0"/>
                </a:lnTo>
                <a:cubicBezTo>
                  <a:pt x="6719111" y="0"/>
                  <a:pt x="6753225" y="34114"/>
                  <a:pt x="6753225" y="76196"/>
                </a:cubicBezTo>
                <a:lnTo>
                  <a:pt x="6753225" y="847729"/>
                </a:lnTo>
                <a:cubicBezTo>
                  <a:pt x="6753225" y="889811"/>
                  <a:pt x="6719111" y="923925"/>
                  <a:pt x="667702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44405" y="1533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70029" y="1647825"/>
            <a:ext cx="20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30205" y="1533525"/>
            <a:ext cx="3667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Performance Extremes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30205" y="183832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Pinpoint top and underperforming vendors and brands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49143" y="2424113"/>
            <a:ext cx="6753225" cy="923925"/>
          </a:xfrm>
          <a:custGeom>
            <a:avLst/>
            <a:gdLst/>
            <a:ahLst/>
            <a:cxnLst/>
            <a:rect l="l" t="t" r="r" b="b"/>
            <a:pathLst>
              <a:path w="6753225" h="923925">
                <a:moveTo>
                  <a:pt x="76196" y="0"/>
                </a:moveTo>
                <a:lnTo>
                  <a:pt x="6677029" y="0"/>
                </a:lnTo>
                <a:cubicBezTo>
                  <a:pt x="6719111" y="0"/>
                  <a:pt x="6753225" y="34114"/>
                  <a:pt x="6753225" y="76196"/>
                </a:cubicBezTo>
                <a:lnTo>
                  <a:pt x="6753225" y="847729"/>
                </a:lnTo>
                <a:cubicBezTo>
                  <a:pt x="6753225" y="889811"/>
                  <a:pt x="6719111" y="923925"/>
                  <a:pt x="667702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44405" y="26193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448151" y="2733675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30205" y="2619375"/>
            <a:ext cx="401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 Concentration Risk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30205" y="2924175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 vendor dependency and supply chain vulnerability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49143" y="3509963"/>
            <a:ext cx="6753225" cy="923925"/>
          </a:xfrm>
          <a:custGeom>
            <a:avLst/>
            <a:gdLst/>
            <a:ahLst/>
            <a:cxnLst/>
            <a:rect l="l" t="t" r="r" b="b"/>
            <a:pathLst>
              <a:path w="6753225" h="923925">
                <a:moveTo>
                  <a:pt x="76196" y="0"/>
                </a:moveTo>
                <a:lnTo>
                  <a:pt x="6677029" y="0"/>
                </a:lnTo>
                <a:cubicBezTo>
                  <a:pt x="6719111" y="0"/>
                  <a:pt x="6753225" y="34114"/>
                  <a:pt x="6753225" y="76196"/>
                </a:cubicBezTo>
                <a:lnTo>
                  <a:pt x="6753225" y="847729"/>
                </a:lnTo>
                <a:cubicBezTo>
                  <a:pt x="6753225" y="889811"/>
                  <a:pt x="6719111" y="923925"/>
                  <a:pt x="667702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44405" y="3705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445175" y="381952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30205" y="3705225"/>
            <a:ext cx="389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Quantify Bulk Purchase Impact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30205" y="401002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how order volume affects unit costs and margins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49143" y="4595813"/>
            <a:ext cx="6753225" cy="923925"/>
          </a:xfrm>
          <a:custGeom>
            <a:avLst/>
            <a:gdLst/>
            <a:ahLst/>
            <a:cxnLst/>
            <a:rect l="l" t="t" r="r" b="b"/>
            <a:pathLst>
              <a:path w="6753225" h="923925">
                <a:moveTo>
                  <a:pt x="76196" y="0"/>
                </a:moveTo>
                <a:lnTo>
                  <a:pt x="6677029" y="0"/>
                </a:lnTo>
                <a:cubicBezTo>
                  <a:pt x="6719111" y="0"/>
                  <a:pt x="6753225" y="34114"/>
                  <a:pt x="6753225" y="76196"/>
                </a:cubicBezTo>
                <a:lnTo>
                  <a:pt x="6753225" y="847729"/>
                </a:lnTo>
                <a:cubicBezTo>
                  <a:pt x="6753225" y="889811"/>
                  <a:pt x="6719111" y="923925"/>
                  <a:pt x="667702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44405" y="47910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448151" y="4905375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30205" y="4791075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Highlight Inventory Inefficiencies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30205" y="5095875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unsold capital and slow-moving stock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49143" y="5681663"/>
            <a:ext cx="6753225" cy="923925"/>
          </a:xfrm>
          <a:custGeom>
            <a:avLst/>
            <a:gdLst/>
            <a:ahLst/>
            <a:cxnLst/>
            <a:rect l="l" t="t" r="r" b="b"/>
            <a:pathLst>
              <a:path w="6753225" h="923925">
                <a:moveTo>
                  <a:pt x="76196" y="0"/>
                </a:moveTo>
                <a:lnTo>
                  <a:pt x="6677029" y="0"/>
                </a:lnTo>
                <a:cubicBezTo>
                  <a:pt x="6719111" y="0"/>
                  <a:pt x="6753225" y="34114"/>
                  <a:pt x="6753225" y="76196"/>
                </a:cubicBezTo>
                <a:lnTo>
                  <a:pt x="6753225" y="847729"/>
                </a:lnTo>
                <a:cubicBezTo>
                  <a:pt x="6753225" y="889811"/>
                  <a:pt x="6719111" y="923925"/>
                  <a:pt x="667702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44405" y="5876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444728" y="599122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930205" y="5876925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 Profitability Models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930205" y="6181725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margin structures across vendor segments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Overall Commercial Performance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00163"/>
            <a:ext cx="2152650" cy="1400175"/>
          </a:xfrm>
          <a:custGeom>
            <a:avLst/>
            <a:gdLst/>
            <a:ahLst/>
            <a:cxnLst/>
            <a:rect l="l" t="t" r="r" b="b"/>
            <a:pathLst>
              <a:path w="2152650" h="1400175">
                <a:moveTo>
                  <a:pt x="76198" y="0"/>
                </a:moveTo>
                <a:lnTo>
                  <a:pt x="2076452" y="0"/>
                </a:lnTo>
                <a:cubicBezTo>
                  <a:pt x="2118535" y="0"/>
                  <a:pt x="2152650" y="34115"/>
                  <a:pt x="2152650" y="76198"/>
                </a:cubicBezTo>
                <a:lnTo>
                  <a:pt x="2152650" y="1323977"/>
                </a:lnTo>
                <a:cubicBezTo>
                  <a:pt x="2152650" y="1366060"/>
                  <a:pt x="2118535" y="1400175"/>
                  <a:pt x="2076452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56A">
                  <a:alpha val="20000"/>
                </a:srgbClr>
              </a:gs>
              <a:gs pos="100000">
                <a:srgbClr val="C5A56A">
                  <a:alpha val="5000"/>
                </a:srgbClr>
              </a:gs>
            </a:gsLst>
            <a:lin ang="2700000" scaled="1"/>
          </a:gradFill>
          <a:ln w="12700">
            <a:solidFill>
              <a:srgbClr val="C5A56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6065" y="1495425"/>
            <a:ext cx="178594" cy="285750"/>
          </a:xfrm>
          <a:custGeom>
            <a:avLst/>
            <a:gdLst/>
            <a:ahLst/>
            <a:cxnLst/>
            <a:rect l="l" t="t" r="r" b="b"/>
            <a:pathLst>
              <a:path w="178594" h="285750">
                <a:moveTo>
                  <a:pt x="75902" y="13395"/>
                </a:moveTo>
                <a:cubicBezTo>
                  <a:pt x="75902" y="5972"/>
                  <a:pt x="81874" y="0"/>
                  <a:pt x="89297" y="0"/>
                </a:cubicBezTo>
                <a:cubicBezTo>
                  <a:pt x="96720" y="0"/>
                  <a:pt x="102691" y="5972"/>
                  <a:pt x="102691" y="13395"/>
                </a:cubicBezTo>
                <a:lnTo>
                  <a:pt x="102691" y="35719"/>
                </a:lnTo>
                <a:lnTo>
                  <a:pt x="133945" y="35719"/>
                </a:lnTo>
                <a:cubicBezTo>
                  <a:pt x="143824" y="35719"/>
                  <a:pt x="151805" y="43700"/>
                  <a:pt x="151805" y="53578"/>
                </a:cubicBezTo>
                <a:cubicBezTo>
                  <a:pt x="151805" y="63457"/>
                  <a:pt x="143824" y="71438"/>
                  <a:pt x="133945" y="71438"/>
                </a:cubicBezTo>
                <a:lnTo>
                  <a:pt x="69819" y="71438"/>
                </a:lnTo>
                <a:cubicBezTo>
                  <a:pt x="55922" y="71438"/>
                  <a:pt x="44648" y="82711"/>
                  <a:pt x="44648" y="96608"/>
                </a:cubicBezTo>
                <a:cubicBezTo>
                  <a:pt x="44648" y="109165"/>
                  <a:pt x="53857" y="119769"/>
                  <a:pt x="66247" y="121555"/>
                </a:cubicBezTo>
                <a:lnTo>
                  <a:pt x="117370" y="128867"/>
                </a:lnTo>
                <a:cubicBezTo>
                  <a:pt x="147396" y="133164"/>
                  <a:pt x="169664" y="158837"/>
                  <a:pt x="169664" y="189142"/>
                </a:cubicBezTo>
                <a:cubicBezTo>
                  <a:pt x="169664" y="222796"/>
                  <a:pt x="142373" y="250031"/>
                  <a:pt x="108775" y="250031"/>
                </a:cubicBezTo>
                <a:lnTo>
                  <a:pt x="102691" y="250031"/>
                </a:lnTo>
                <a:lnTo>
                  <a:pt x="102691" y="272355"/>
                </a:lnTo>
                <a:cubicBezTo>
                  <a:pt x="102691" y="279778"/>
                  <a:pt x="96720" y="285750"/>
                  <a:pt x="89297" y="285750"/>
                </a:cubicBezTo>
                <a:cubicBezTo>
                  <a:pt x="81874" y="285750"/>
                  <a:pt x="75902" y="279778"/>
                  <a:pt x="75902" y="272355"/>
                </a:cubicBezTo>
                <a:lnTo>
                  <a:pt x="75902" y="250031"/>
                </a:lnTo>
                <a:lnTo>
                  <a:pt x="35719" y="250031"/>
                </a:lnTo>
                <a:cubicBezTo>
                  <a:pt x="25840" y="250031"/>
                  <a:pt x="17859" y="242050"/>
                  <a:pt x="17859" y="232172"/>
                </a:cubicBezTo>
                <a:cubicBezTo>
                  <a:pt x="17859" y="222293"/>
                  <a:pt x="25840" y="214313"/>
                  <a:pt x="35719" y="214313"/>
                </a:cubicBezTo>
                <a:lnTo>
                  <a:pt x="108775" y="214313"/>
                </a:lnTo>
                <a:cubicBezTo>
                  <a:pt x="122672" y="214313"/>
                  <a:pt x="133945" y="203039"/>
                  <a:pt x="133945" y="189142"/>
                </a:cubicBezTo>
                <a:cubicBezTo>
                  <a:pt x="133945" y="176585"/>
                  <a:pt x="124737" y="165981"/>
                  <a:pt x="112347" y="164195"/>
                </a:cubicBezTo>
                <a:lnTo>
                  <a:pt x="61224" y="156883"/>
                </a:lnTo>
                <a:cubicBezTo>
                  <a:pt x="31198" y="152642"/>
                  <a:pt x="8930" y="126913"/>
                  <a:pt x="8930" y="96608"/>
                </a:cubicBezTo>
                <a:cubicBezTo>
                  <a:pt x="8930" y="63010"/>
                  <a:pt x="36221" y="35719"/>
                  <a:pt x="69819" y="35719"/>
                </a:cubicBezTo>
                <a:lnTo>
                  <a:pt x="75902" y="35719"/>
                </a:lnTo>
                <a:lnTo>
                  <a:pt x="75902" y="13395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6" name="Text 4"/>
          <p:cNvSpPr/>
          <p:nvPr/>
        </p:nvSpPr>
        <p:spPr>
          <a:xfrm>
            <a:off x="547688" y="189547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spc="26" kern="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Sales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9587" y="2162175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$441.41M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02123" y="1300163"/>
            <a:ext cx="2152650" cy="1400175"/>
          </a:xfrm>
          <a:custGeom>
            <a:avLst/>
            <a:gdLst/>
            <a:ahLst/>
            <a:cxnLst/>
            <a:rect l="l" t="t" r="r" b="b"/>
            <a:pathLst>
              <a:path w="2152650" h="1400175">
                <a:moveTo>
                  <a:pt x="76198" y="0"/>
                </a:moveTo>
                <a:lnTo>
                  <a:pt x="2076452" y="0"/>
                </a:lnTo>
                <a:cubicBezTo>
                  <a:pt x="2118535" y="0"/>
                  <a:pt x="2152650" y="34115"/>
                  <a:pt x="2152650" y="76198"/>
                </a:cubicBezTo>
                <a:lnTo>
                  <a:pt x="2152650" y="1323977"/>
                </a:lnTo>
                <a:cubicBezTo>
                  <a:pt x="2152650" y="1366060"/>
                  <a:pt x="2118535" y="1400175"/>
                  <a:pt x="2076452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A">
                  <a:alpha val="20000"/>
                </a:srgbClr>
              </a:gs>
              <a:gs pos="100000">
                <a:srgbClr val="3A5F7A">
                  <a:alpha val="5000"/>
                </a:srgbClr>
              </a:gs>
            </a:gsLst>
            <a:lin ang="2700000" scaled="1"/>
          </a:gra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03129" y="14954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3395" y="-8930"/>
                </a:moveTo>
                <a:cubicBezTo>
                  <a:pt x="5972" y="-8930"/>
                  <a:pt x="0" y="-2958"/>
                  <a:pt x="0" y="4465"/>
                </a:cubicBezTo>
                <a:cubicBezTo>
                  <a:pt x="0" y="11888"/>
                  <a:pt x="5972" y="17859"/>
                  <a:pt x="13395" y="17859"/>
                </a:cubicBezTo>
                <a:lnTo>
                  <a:pt x="38677" y="17859"/>
                </a:lnTo>
                <a:cubicBezTo>
                  <a:pt x="40853" y="17859"/>
                  <a:pt x="42695" y="19422"/>
                  <a:pt x="43086" y="21543"/>
                </a:cubicBezTo>
                <a:lnTo>
                  <a:pt x="72163" y="181328"/>
                </a:lnTo>
                <a:cubicBezTo>
                  <a:pt x="75623" y="200416"/>
                  <a:pt x="92255" y="214313"/>
                  <a:pt x="111677" y="214313"/>
                </a:cubicBezTo>
                <a:lnTo>
                  <a:pt x="254496" y="214313"/>
                </a:lnTo>
                <a:cubicBezTo>
                  <a:pt x="261919" y="214313"/>
                  <a:pt x="267891" y="208341"/>
                  <a:pt x="267891" y="200918"/>
                </a:cubicBezTo>
                <a:cubicBezTo>
                  <a:pt x="267891" y="193495"/>
                  <a:pt x="261919" y="187523"/>
                  <a:pt x="254496" y="187523"/>
                </a:cubicBezTo>
                <a:lnTo>
                  <a:pt x="111677" y="187523"/>
                </a:lnTo>
                <a:cubicBezTo>
                  <a:pt x="105203" y="187523"/>
                  <a:pt x="99678" y="182891"/>
                  <a:pt x="98506" y="176529"/>
                </a:cubicBezTo>
                <a:lnTo>
                  <a:pt x="95659" y="160734"/>
                </a:lnTo>
                <a:lnTo>
                  <a:pt x="265100" y="160734"/>
                </a:lnTo>
                <a:cubicBezTo>
                  <a:pt x="282290" y="160734"/>
                  <a:pt x="297024" y="148512"/>
                  <a:pt x="300205" y="131601"/>
                </a:cubicBezTo>
                <a:lnTo>
                  <a:pt x="317506" y="39012"/>
                </a:lnTo>
                <a:cubicBezTo>
                  <a:pt x="319571" y="28017"/>
                  <a:pt x="311144" y="17859"/>
                  <a:pt x="299926" y="17859"/>
                </a:cubicBezTo>
                <a:lnTo>
                  <a:pt x="69596" y="17859"/>
                </a:lnTo>
                <a:lnTo>
                  <a:pt x="69373" y="16743"/>
                </a:lnTo>
                <a:cubicBezTo>
                  <a:pt x="66694" y="1898"/>
                  <a:pt x="53746" y="-8930"/>
                  <a:pt x="38621" y="-8930"/>
                </a:cubicBezTo>
                <a:lnTo>
                  <a:pt x="13395" y="-8930"/>
                </a:lnTo>
                <a:close/>
                <a:moveTo>
                  <a:pt x="116086" y="285750"/>
                </a:moveTo>
                <a:cubicBezTo>
                  <a:pt x="130871" y="285750"/>
                  <a:pt x="142875" y="273746"/>
                  <a:pt x="142875" y="258961"/>
                </a:cubicBezTo>
                <a:cubicBezTo>
                  <a:pt x="142875" y="244176"/>
                  <a:pt x="130871" y="232172"/>
                  <a:pt x="116086" y="232172"/>
                </a:cubicBezTo>
                <a:cubicBezTo>
                  <a:pt x="101301" y="232172"/>
                  <a:pt x="89297" y="244176"/>
                  <a:pt x="89297" y="258961"/>
                </a:cubicBezTo>
                <a:cubicBezTo>
                  <a:pt x="89297" y="273746"/>
                  <a:pt x="101301" y="285750"/>
                  <a:pt x="116086" y="285750"/>
                </a:cubicBezTo>
                <a:close/>
                <a:moveTo>
                  <a:pt x="241102" y="285750"/>
                </a:moveTo>
                <a:cubicBezTo>
                  <a:pt x="255887" y="285750"/>
                  <a:pt x="267891" y="273746"/>
                  <a:pt x="267891" y="258961"/>
                </a:cubicBezTo>
                <a:cubicBezTo>
                  <a:pt x="267891" y="244176"/>
                  <a:pt x="255887" y="232172"/>
                  <a:pt x="241102" y="232172"/>
                </a:cubicBezTo>
                <a:cubicBezTo>
                  <a:pt x="226316" y="232172"/>
                  <a:pt x="214313" y="244176"/>
                  <a:pt x="214313" y="258961"/>
                </a:cubicBezTo>
                <a:cubicBezTo>
                  <a:pt x="214313" y="273746"/>
                  <a:pt x="226316" y="285750"/>
                  <a:pt x="241102" y="28575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0" name="Text 8"/>
          <p:cNvSpPr/>
          <p:nvPr/>
        </p:nvSpPr>
        <p:spPr>
          <a:xfrm>
            <a:off x="2864048" y="189547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spc="26" kern="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Purchase Value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25948" y="2162175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A5F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$307.34M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18633" y="1300163"/>
            <a:ext cx="2152650" cy="1400175"/>
          </a:xfrm>
          <a:custGeom>
            <a:avLst/>
            <a:gdLst/>
            <a:ahLst/>
            <a:cxnLst/>
            <a:rect l="l" t="t" r="r" b="b"/>
            <a:pathLst>
              <a:path w="2152650" h="1400175">
                <a:moveTo>
                  <a:pt x="76198" y="0"/>
                </a:moveTo>
                <a:lnTo>
                  <a:pt x="2076452" y="0"/>
                </a:lnTo>
                <a:cubicBezTo>
                  <a:pt x="2118535" y="0"/>
                  <a:pt x="2152650" y="34115"/>
                  <a:pt x="2152650" y="76198"/>
                </a:cubicBezTo>
                <a:lnTo>
                  <a:pt x="2152650" y="1323977"/>
                </a:lnTo>
                <a:cubicBezTo>
                  <a:pt x="2152650" y="1366060"/>
                  <a:pt x="2118535" y="1400175"/>
                  <a:pt x="2076452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5E7A8E">
                  <a:alpha val="20000"/>
                </a:srgbClr>
              </a:gs>
              <a:gs pos="100000">
                <a:srgbClr val="5E7A8E">
                  <a:alpha val="5000"/>
                </a:srgbClr>
              </a:gs>
            </a:gsLst>
            <a:lin ang="2700000" scaled="1"/>
          </a:gradFill>
          <a:ln w="12700">
            <a:solidFill>
              <a:srgbClr val="5E7A8E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55357" y="1495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53578"/>
                </a:moveTo>
                <a:lnTo>
                  <a:pt x="71438" y="44648"/>
                </a:lnTo>
                <a:cubicBezTo>
                  <a:pt x="71438" y="19980"/>
                  <a:pt x="119435" y="0"/>
                  <a:pt x="178594" y="0"/>
                </a:cubicBezTo>
                <a:cubicBezTo>
                  <a:pt x="237753" y="0"/>
                  <a:pt x="285750" y="19980"/>
                  <a:pt x="285750" y="44648"/>
                </a:cubicBezTo>
                <a:lnTo>
                  <a:pt x="285750" y="53578"/>
                </a:lnTo>
                <a:cubicBezTo>
                  <a:pt x="285750" y="70656"/>
                  <a:pt x="262700" y="85502"/>
                  <a:pt x="228823" y="93036"/>
                </a:cubicBezTo>
                <a:cubicBezTo>
                  <a:pt x="227484" y="91473"/>
                  <a:pt x="226089" y="89967"/>
                  <a:pt x="224693" y="88571"/>
                </a:cubicBezTo>
                <a:cubicBezTo>
                  <a:pt x="216043" y="80032"/>
                  <a:pt x="204881" y="73558"/>
                  <a:pt x="193216" y="68759"/>
                </a:cubicBezTo>
                <a:cubicBezTo>
                  <a:pt x="169831" y="58992"/>
                  <a:pt x="139359" y="53634"/>
                  <a:pt x="107156" y="53634"/>
                </a:cubicBezTo>
                <a:cubicBezTo>
                  <a:pt x="94934" y="53634"/>
                  <a:pt x="82990" y="54415"/>
                  <a:pt x="71549" y="55922"/>
                </a:cubicBezTo>
                <a:cubicBezTo>
                  <a:pt x="71438" y="55197"/>
                  <a:pt x="71438" y="54415"/>
                  <a:pt x="71438" y="53634"/>
                </a:cubicBezTo>
                <a:close/>
                <a:moveTo>
                  <a:pt x="241102" y="197011"/>
                </a:moveTo>
                <a:lnTo>
                  <a:pt x="241102" y="171227"/>
                </a:lnTo>
                <a:cubicBezTo>
                  <a:pt x="249529" y="169050"/>
                  <a:pt x="257454" y="166483"/>
                  <a:pt x="264654" y="163469"/>
                </a:cubicBezTo>
                <a:cubicBezTo>
                  <a:pt x="272021" y="160400"/>
                  <a:pt x="279220" y="156660"/>
                  <a:pt x="285750" y="152140"/>
                </a:cubicBezTo>
                <a:lnTo>
                  <a:pt x="285750" y="160734"/>
                </a:lnTo>
                <a:cubicBezTo>
                  <a:pt x="285750" y="175692"/>
                  <a:pt x="268170" y="188919"/>
                  <a:pt x="241102" y="197011"/>
                </a:cubicBezTo>
                <a:close/>
                <a:moveTo>
                  <a:pt x="241102" y="143433"/>
                </a:moveTo>
                <a:lnTo>
                  <a:pt x="241102" y="125016"/>
                </a:lnTo>
                <a:cubicBezTo>
                  <a:pt x="241102" y="122504"/>
                  <a:pt x="240878" y="120104"/>
                  <a:pt x="240543" y="117760"/>
                </a:cubicBezTo>
                <a:cubicBezTo>
                  <a:pt x="249194" y="115584"/>
                  <a:pt x="257287" y="112961"/>
                  <a:pt x="264654" y="109835"/>
                </a:cubicBezTo>
                <a:cubicBezTo>
                  <a:pt x="272021" y="106710"/>
                  <a:pt x="279220" y="103026"/>
                  <a:pt x="285750" y="98506"/>
                </a:cubicBezTo>
                <a:lnTo>
                  <a:pt x="285750" y="107100"/>
                </a:lnTo>
                <a:cubicBezTo>
                  <a:pt x="285750" y="122058"/>
                  <a:pt x="268170" y="135285"/>
                  <a:pt x="241102" y="143377"/>
                </a:cubicBezTo>
                <a:close/>
                <a:moveTo>
                  <a:pt x="0" y="133945"/>
                </a:moveTo>
                <a:lnTo>
                  <a:pt x="0" y="125016"/>
                </a:lnTo>
                <a:cubicBezTo>
                  <a:pt x="0" y="100347"/>
                  <a:pt x="47997" y="80367"/>
                  <a:pt x="107156" y="80367"/>
                </a:cubicBezTo>
                <a:cubicBezTo>
                  <a:pt x="166315" y="80367"/>
                  <a:pt x="214313" y="100347"/>
                  <a:pt x="214313" y="125016"/>
                </a:cubicBezTo>
                <a:lnTo>
                  <a:pt x="214313" y="133945"/>
                </a:lnTo>
                <a:cubicBezTo>
                  <a:pt x="214313" y="158614"/>
                  <a:pt x="166315" y="178594"/>
                  <a:pt x="107156" y="178594"/>
                </a:cubicBezTo>
                <a:cubicBezTo>
                  <a:pt x="47997" y="178594"/>
                  <a:pt x="0" y="158614"/>
                  <a:pt x="0" y="133945"/>
                </a:cubicBezTo>
                <a:close/>
                <a:moveTo>
                  <a:pt x="214313" y="187523"/>
                </a:moveTo>
                <a:cubicBezTo>
                  <a:pt x="214313" y="212192"/>
                  <a:pt x="166315" y="232172"/>
                  <a:pt x="107156" y="232172"/>
                </a:cubicBezTo>
                <a:cubicBezTo>
                  <a:pt x="47997" y="232172"/>
                  <a:pt x="0" y="212192"/>
                  <a:pt x="0" y="187523"/>
                </a:cubicBezTo>
                <a:lnTo>
                  <a:pt x="0" y="178929"/>
                </a:lnTo>
                <a:cubicBezTo>
                  <a:pt x="6474" y="183449"/>
                  <a:pt x="13674" y="187133"/>
                  <a:pt x="21096" y="190258"/>
                </a:cubicBezTo>
                <a:cubicBezTo>
                  <a:pt x="44481" y="200025"/>
                  <a:pt x="74954" y="205383"/>
                  <a:pt x="107156" y="205383"/>
                </a:cubicBezTo>
                <a:cubicBezTo>
                  <a:pt x="139359" y="205383"/>
                  <a:pt x="169831" y="199969"/>
                  <a:pt x="193216" y="190258"/>
                </a:cubicBezTo>
                <a:cubicBezTo>
                  <a:pt x="200583" y="187189"/>
                  <a:pt x="207783" y="183449"/>
                  <a:pt x="214313" y="178929"/>
                </a:cubicBezTo>
                <a:lnTo>
                  <a:pt x="214313" y="187523"/>
                </a:lnTo>
                <a:close/>
                <a:moveTo>
                  <a:pt x="214313" y="232507"/>
                </a:moveTo>
                <a:lnTo>
                  <a:pt x="214313" y="241102"/>
                </a:lnTo>
                <a:cubicBezTo>
                  <a:pt x="214313" y="265770"/>
                  <a:pt x="166315" y="285750"/>
                  <a:pt x="107156" y="285750"/>
                </a:cubicBezTo>
                <a:cubicBezTo>
                  <a:pt x="47997" y="285750"/>
                  <a:pt x="0" y="265770"/>
                  <a:pt x="0" y="241102"/>
                </a:cubicBezTo>
                <a:lnTo>
                  <a:pt x="0" y="232507"/>
                </a:lnTo>
                <a:cubicBezTo>
                  <a:pt x="6474" y="237027"/>
                  <a:pt x="13674" y="240711"/>
                  <a:pt x="21096" y="243836"/>
                </a:cubicBezTo>
                <a:cubicBezTo>
                  <a:pt x="44481" y="253603"/>
                  <a:pt x="74954" y="258961"/>
                  <a:pt x="107156" y="258961"/>
                </a:cubicBezTo>
                <a:cubicBezTo>
                  <a:pt x="139359" y="258961"/>
                  <a:pt x="169831" y="253547"/>
                  <a:pt x="193216" y="243836"/>
                </a:cubicBezTo>
                <a:cubicBezTo>
                  <a:pt x="200583" y="240767"/>
                  <a:pt x="207783" y="237027"/>
                  <a:pt x="214313" y="232507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14" name="Text 12"/>
          <p:cNvSpPr/>
          <p:nvPr/>
        </p:nvSpPr>
        <p:spPr>
          <a:xfrm>
            <a:off x="5180558" y="189547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spc="26" kern="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Gross Profit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42458" y="2162175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$134.07M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35143" y="1300163"/>
            <a:ext cx="2152650" cy="1400175"/>
          </a:xfrm>
          <a:custGeom>
            <a:avLst/>
            <a:gdLst/>
            <a:ahLst/>
            <a:cxnLst/>
            <a:rect l="l" t="t" r="r" b="b"/>
            <a:pathLst>
              <a:path w="2152650" h="1400175">
                <a:moveTo>
                  <a:pt x="76198" y="0"/>
                </a:moveTo>
                <a:lnTo>
                  <a:pt x="2076452" y="0"/>
                </a:lnTo>
                <a:cubicBezTo>
                  <a:pt x="2118535" y="0"/>
                  <a:pt x="2152650" y="34115"/>
                  <a:pt x="2152650" y="76198"/>
                </a:cubicBezTo>
                <a:lnTo>
                  <a:pt x="2152650" y="1323977"/>
                </a:lnTo>
                <a:cubicBezTo>
                  <a:pt x="2152650" y="1366060"/>
                  <a:pt x="2118535" y="1400175"/>
                  <a:pt x="2076452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56A">
                  <a:alpha val="20000"/>
                </a:srgbClr>
              </a:gs>
              <a:gs pos="100000">
                <a:srgbClr val="C5A56A">
                  <a:alpha val="5000"/>
                </a:srgbClr>
              </a:gs>
            </a:gsLst>
            <a:lin ang="2700000" scaled="1"/>
          </a:gradFill>
          <a:ln w="12700">
            <a:solidFill>
              <a:srgbClr val="C5A56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89727" y="14954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07156" y="71438"/>
                </a:moveTo>
                <a:cubicBezTo>
                  <a:pt x="107156" y="41867"/>
                  <a:pt x="83149" y="17859"/>
                  <a:pt x="53578" y="17859"/>
                </a:cubicBezTo>
                <a:cubicBezTo>
                  <a:pt x="24008" y="17859"/>
                  <a:pt x="0" y="41867"/>
                  <a:pt x="0" y="71438"/>
                </a:cubicBezTo>
                <a:cubicBezTo>
                  <a:pt x="0" y="101008"/>
                  <a:pt x="24008" y="125016"/>
                  <a:pt x="53578" y="125016"/>
                </a:cubicBezTo>
                <a:cubicBezTo>
                  <a:pt x="83149" y="125016"/>
                  <a:pt x="107156" y="101008"/>
                  <a:pt x="107156" y="71438"/>
                </a:cubicBezTo>
                <a:close/>
                <a:moveTo>
                  <a:pt x="250031" y="214313"/>
                </a:moveTo>
                <a:cubicBezTo>
                  <a:pt x="250031" y="184742"/>
                  <a:pt x="226024" y="160734"/>
                  <a:pt x="196453" y="160734"/>
                </a:cubicBezTo>
                <a:cubicBezTo>
                  <a:pt x="166883" y="160734"/>
                  <a:pt x="142875" y="184742"/>
                  <a:pt x="142875" y="214313"/>
                </a:cubicBezTo>
                <a:cubicBezTo>
                  <a:pt x="142875" y="243883"/>
                  <a:pt x="166883" y="267891"/>
                  <a:pt x="196453" y="267891"/>
                </a:cubicBezTo>
                <a:cubicBezTo>
                  <a:pt x="226024" y="267891"/>
                  <a:pt x="250031" y="243883"/>
                  <a:pt x="250031" y="214313"/>
                </a:cubicBezTo>
                <a:close/>
                <a:moveTo>
                  <a:pt x="244785" y="48332"/>
                </a:moveTo>
                <a:cubicBezTo>
                  <a:pt x="251761" y="41356"/>
                  <a:pt x="251761" y="30026"/>
                  <a:pt x="244785" y="23050"/>
                </a:cubicBezTo>
                <a:cubicBezTo>
                  <a:pt x="237809" y="16073"/>
                  <a:pt x="226479" y="16073"/>
                  <a:pt x="219503" y="23050"/>
                </a:cubicBezTo>
                <a:lnTo>
                  <a:pt x="5190" y="237362"/>
                </a:lnTo>
                <a:cubicBezTo>
                  <a:pt x="-1786" y="244339"/>
                  <a:pt x="-1786" y="255668"/>
                  <a:pt x="5190" y="262644"/>
                </a:cubicBezTo>
                <a:cubicBezTo>
                  <a:pt x="12167" y="269621"/>
                  <a:pt x="23496" y="269621"/>
                  <a:pt x="30473" y="262644"/>
                </a:cubicBezTo>
                <a:lnTo>
                  <a:pt x="244785" y="48332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7068" y="189547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spc="26" kern="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Margin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58968" y="2162175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38.7%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51653" y="1300163"/>
            <a:ext cx="2152650" cy="1400175"/>
          </a:xfrm>
          <a:custGeom>
            <a:avLst/>
            <a:gdLst/>
            <a:ahLst/>
            <a:cxnLst/>
            <a:rect l="l" t="t" r="r" b="b"/>
            <a:pathLst>
              <a:path w="2152650" h="1400175">
                <a:moveTo>
                  <a:pt x="76198" y="0"/>
                </a:moveTo>
                <a:lnTo>
                  <a:pt x="2076452" y="0"/>
                </a:lnTo>
                <a:cubicBezTo>
                  <a:pt x="2118535" y="0"/>
                  <a:pt x="2152650" y="34115"/>
                  <a:pt x="2152650" y="76198"/>
                </a:cubicBezTo>
                <a:lnTo>
                  <a:pt x="2152650" y="1323977"/>
                </a:lnTo>
                <a:cubicBezTo>
                  <a:pt x="2152650" y="1366060"/>
                  <a:pt x="2118535" y="1400175"/>
                  <a:pt x="2076452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A">
                  <a:alpha val="20000"/>
                </a:srgbClr>
              </a:gs>
              <a:gs pos="100000">
                <a:srgbClr val="3A5F7A">
                  <a:alpha val="5000"/>
                </a:srgbClr>
              </a:gs>
            </a:gsLst>
            <a:lin ang="2700000" scaled="1"/>
          </a:gra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70518" y="14954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79307"/>
                </a:moveTo>
                <a:lnTo>
                  <a:pt x="0" y="267891"/>
                </a:lnTo>
                <a:cubicBezTo>
                  <a:pt x="0" y="277769"/>
                  <a:pt x="7981" y="285750"/>
                  <a:pt x="17859" y="285750"/>
                </a:cubicBezTo>
                <a:cubicBezTo>
                  <a:pt x="27738" y="285750"/>
                  <a:pt x="35719" y="277769"/>
                  <a:pt x="35719" y="267891"/>
                </a:cubicBezTo>
                <a:lnTo>
                  <a:pt x="35719" y="133945"/>
                </a:lnTo>
                <a:cubicBezTo>
                  <a:pt x="35719" y="124067"/>
                  <a:pt x="43700" y="116086"/>
                  <a:pt x="53578" y="116086"/>
                </a:cubicBezTo>
                <a:lnTo>
                  <a:pt x="267891" y="116086"/>
                </a:lnTo>
                <a:cubicBezTo>
                  <a:pt x="277769" y="116086"/>
                  <a:pt x="285750" y="124067"/>
                  <a:pt x="285750" y="133945"/>
                </a:cubicBezTo>
                <a:lnTo>
                  <a:pt x="285750" y="267891"/>
                </a:lnTo>
                <a:cubicBezTo>
                  <a:pt x="285750" y="277769"/>
                  <a:pt x="293731" y="285750"/>
                  <a:pt x="303609" y="285750"/>
                </a:cubicBezTo>
                <a:cubicBezTo>
                  <a:pt x="313488" y="285750"/>
                  <a:pt x="321469" y="277769"/>
                  <a:pt x="321469" y="267891"/>
                </a:cubicBezTo>
                <a:lnTo>
                  <a:pt x="321469" y="79307"/>
                </a:lnTo>
                <a:cubicBezTo>
                  <a:pt x="321469" y="63959"/>
                  <a:pt x="311646" y="50285"/>
                  <a:pt x="297024" y="45430"/>
                </a:cubicBezTo>
                <a:lnTo>
                  <a:pt x="169218" y="2846"/>
                </a:lnTo>
                <a:cubicBezTo>
                  <a:pt x="163692" y="1005"/>
                  <a:pt x="157776" y="1005"/>
                  <a:pt x="152251" y="2846"/>
                </a:cubicBezTo>
                <a:lnTo>
                  <a:pt x="24445" y="45430"/>
                </a:lnTo>
                <a:cubicBezTo>
                  <a:pt x="9823" y="50285"/>
                  <a:pt x="0" y="63959"/>
                  <a:pt x="0" y="79307"/>
                </a:cubicBezTo>
                <a:close/>
                <a:moveTo>
                  <a:pt x="258961" y="142875"/>
                </a:moveTo>
                <a:lnTo>
                  <a:pt x="62508" y="142875"/>
                </a:lnTo>
                <a:lnTo>
                  <a:pt x="62508" y="178594"/>
                </a:lnTo>
                <a:lnTo>
                  <a:pt x="258961" y="178594"/>
                </a:lnTo>
                <a:lnTo>
                  <a:pt x="258961" y="142875"/>
                </a:lnTo>
                <a:close/>
                <a:moveTo>
                  <a:pt x="62508" y="232172"/>
                </a:moveTo>
                <a:lnTo>
                  <a:pt x="258961" y="232172"/>
                </a:lnTo>
                <a:lnTo>
                  <a:pt x="258961" y="196453"/>
                </a:lnTo>
                <a:lnTo>
                  <a:pt x="62508" y="196453"/>
                </a:lnTo>
                <a:lnTo>
                  <a:pt x="62508" y="232172"/>
                </a:lnTo>
                <a:close/>
                <a:moveTo>
                  <a:pt x="258961" y="250031"/>
                </a:moveTo>
                <a:lnTo>
                  <a:pt x="62508" y="250031"/>
                </a:lnTo>
                <a:lnTo>
                  <a:pt x="62508" y="285750"/>
                </a:lnTo>
                <a:lnTo>
                  <a:pt x="258961" y="285750"/>
                </a:lnTo>
                <a:lnTo>
                  <a:pt x="258961" y="250031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2" name="Text 20"/>
          <p:cNvSpPr/>
          <p:nvPr/>
        </p:nvSpPr>
        <p:spPr>
          <a:xfrm>
            <a:off x="9813578" y="189547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spc="26" kern="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Unsold Inventory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75478" y="2162175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A5F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$2.71M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2900363"/>
            <a:ext cx="5610225" cy="3571875"/>
          </a:xfrm>
          <a:custGeom>
            <a:avLst/>
            <a:gdLst/>
            <a:ahLst/>
            <a:cxnLst/>
            <a:rect l="l" t="t" r="r" b="b"/>
            <a:pathLst>
              <a:path w="5610225" h="3571875">
                <a:moveTo>
                  <a:pt x="76188" y="0"/>
                </a:moveTo>
                <a:lnTo>
                  <a:pt x="5534037" y="0"/>
                </a:lnTo>
                <a:cubicBezTo>
                  <a:pt x="5576114" y="0"/>
                  <a:pt x="5610225" y="34111"/>
                  <a:pt x="5610225" y="76188"/>
                </a:cubicBezTo>
                <a:lnTo>
                  <a:pt x="5610225" y="3495687"/>
                </a:lnTo>
                <a:cubicBezTo>
                  <a:pt x="5610225" y="3537764"/>
                  <a:pt x="5576114" y="3571875"/>
                  <a:pt x="5534037" y="3571875"/>
                </a:cubicBezTo>
                <a:lnTo>
                  <a:pt x="76188" y="3571875"/>
                </a:lnTo>
                <a:cubicBezTo>
                  <a:pt x="34111" y="3571875"/>
                  <a:pt x="0" y="3537764"/>
                  <a:pt x="0" y="3495687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1025" y="3095625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Profitability Flow</a:t>
            </a:r>
            <a:endParaRPr lang="en-US" sz="1600" dirty="0"/>
          </a:p>
        </p:txBody>
      </p:sp>
      <p:pic>
        <p:nvPicPr>
          <p:cNvPr id="26" name="Image 0" descr="https://kimi-img.moonshot.cn/pub/slides/26-02-05-02:27:25-d61ov3crhkl9qit31qj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025" y="3514725"/>
            <a:ext cx="5219700" cy="2667000"/>
          </a:xfrm>
          <a:prstGeom prst="roundRect">
            <a:avLst>
              <a:gd name="adj" fmla="val 0"/>
            </a:avLst>
          </a:prstGeom>
        </p:spPr>
      </p:pic>
      <p:sp>
        <p:nvSpPr>
          <p:cNvPr id="27" name="Shape 24"/>
          <p:cNvSpPr/>
          <p:nvPr/>
        </p:nvSpPr>
        <p:spPr>
          <a:xfrm>
            <a:off x="6196013" y="2900363"/>
            <a:ext cx="5610225" cy="3571875"/>
          </a:xfrm>
          <a:custGeom>
            <a:avLst/>
            <a:gdLst/>
            <a:ahLst/>
            <a:cxnLst/>
            <a:rect l="l" t="t" r="r" b="b"/>
            <a:pathLst>
              <a:path w="5610225" h="3571875">
                <a:moveTo>
                  <a:pt x="76188" y="0"/>
                </a:moveTo>
                <a:lnTo>
                  <a:pt x="5534037" y="0"/>
                </a:lnTo>
                <a:cubicBezTo>
                  <a:pt x="5576114" y="0"/>
                  <a:pt x="5610225" y="34111"/>
                  <a:pt x="5610225" y="76188"/>
                </a:cubicBezTo>
                <a:lnTo>
                  <a:pt x="5610225" y="3495687"/>
                </a:lnTo>
                <a:cubicBezTo>
                  <a:pt x="5610225" y="3537764"/>
                  <a:pt x="5576114" y="3571875"/>
                  <a:pt x="5534037" y="3571875"/>
                </a:cubicBezTo>
                <a:lnTo>
                  <a:pt x="76188" y="3571875"/>
                </a:lnTo>
                <a:cubicBezTo>
                  <a:pt x="34111" y="3571875"/>
                  <a:pt x="0" y="3537764"/>
                  <a:pt x="0" y="3495687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91275" y="3095625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Interpretations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91275" y="3613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486525" y="36893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63877" y="5179"/>
                </a:moveTo>
                <a:cubicBezTo>
                  <a:pt x="60156" y="1459"/>
                  <a:pt x="54114" y="1459"/>
                  <a:pt x="50393" y="5179"/>
                </a:cubicBezTo>
                <a:lnTo>
                  <a:pt x="2768" y="52804"/>
                </a:lnTo>
                <a:cubicBezTo>
                  <a:pt x="-952" y="56525"/>
                  <a:pt x="-952" y="62567"/>
                  <a:pt x="2768" y="66288"/>
                </a:cubicBezTo>
                <a:cubicBezTo>
                  <a:pt x="6489" y="70009"/>
                  <a:pt x="12531" y="70009"/>
                  <a:pt x="16252" y="66288"/>
                </a:cubicBezTo>
                <a:lnTo>
                  <a:pt x="47625" y="34915"/>
                </a:lnTo>
                <a:lnTo>
                  <a:pt x="47625" y="145256"/>
                </a:lnTo>
                <a:cubicBezTo>
                  <a:pt x="47625" y="150525"/>
                  <a:pt x="51881" y="154781"/>
                  <a:pt x="57150" y="154781"/>
                </a:cubicBezTo>
                <a:cubicBezTo>
                  <a:pt x="62419" y="154781"/>
                  <a:pt x="66675" y="150525"/>
                  <a:pt x="66675" y="145256"/>
                </a:cubicBezTo>
                <a:lnTo>
                  <a:pt x="66675" y="34915"/>
                </a:lnTo>
                <a:lnTo>
                  <a:pt x="98048" y="66288"/>
                </a:lnTo>
                <a:cubicBezTo>
                  <a:pt x="101769" y="70009"/>
                  <a:pt x="107811" y="70009"/>
                  <a:pt x="111532" y="66288"/>
                </a:cubicBezTo>
                <a:cubicBezTo>
                  <a:pt x="115253" y="62567"/>
                  <a:pt x="115253" y="56525"/>
                  <a:pt x="111532" y="52804"/>
                </a:cubicBezTo>
                <a:lnTo>
                  <a:pt x="63907" y="5179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31" name="Text 28"/>
          <p:cNvSpPr/>
          <p:nvPr/>
        </p:nvSpPr>
        <p:spPr>
          <a:xfrm>
            <a:off x="6810375" y="35750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Top-Line Performance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810375" y="3841700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demonstrates robust revenue generation with healthy profit margins, indicating effective market positioning.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391275" y="457185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467475" y="464805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5" name="Text 32"/>
          <p:cNvSpPr/>
          <p:nvPr/>
        </p:nvSpPr>
        <p:spPr>
          <a:xfrm>
            <a:off x="6810375" y="4533751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Margin Dispersion Opportunity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810375" y="4800451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Variability in margins across vendors suggests room for strategic pricing and procurement optimization.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91275" y="55306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6448425" y="5606802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66777" y="70604"/>
                </a:moveTo>
                <a:cubicBezTo>
                  <a:pt x="169872" y="74116"/>
                  <a:pt x="175200" y="74890"/>
                  <a:pt x="179219" y="72241"/>
                </a:cubicBezTo>
                <a:cubicBezTo>
                  <a:pt x="183594" y="69324"/>
                  <a:pt x="184785" y="63401"/>
                  <a:pt x="181868" y="59025"/>
                </a:cubicBezTo>
                <a:lnTo>
                  <a:pt x="167580" y="37594"/>
                </a:lnTo>
                <a:cubicBezTo>
                  <a:pt x="166747" y="36344"/>
                  <a:pt x="165616" y="35302"/>
                  <a:pt x="164276" y="34558"/>
                </a:cubicBezTo>
                <a:lnTo>
                  <a:pt x="104596" y="1399"/>
                </a:lnTo>
                <a:cubicBezTo>
                  <a:pt x="98852" y="-1786"/>
                  <a:pt x="91857" y="-1786"/>
                  <a:pt x="86082" y="1399"/>
                </a:cubicBezTo>
                <a:lnTo>
                  <a:pt x="26432" y="34528"/>
                </a:lnTo>
                <a:cubicBezTo>
                  <a:pt x="24825" y="35421"/>
                  <a:pt x="23545" y="36731"/>
                  <a:pt x="22681" y="38338"/>
                </a:cubicBezTo>
                <a:lnTo>
                  <a:pt x="8245" y="65097"/>
                </a:lnTo>
                <a:cubicBezTo>
                  <a:pt x="4495" y="72063"/>
                  <a:pt x="7114" y="80724"/>
                  <a:pt x="14079" y="84475"/>
                </a:cubicBezTo>
                <a:lnTo>
                  <a:pt x="23902" y="89743"/>
                </a:lnTo>
                <a:lnTo>
                  <a:pt x="23902" y="105608"/>
                </a:lnTo>
                <a:cubicBezTo>
                  <a:pt x="23902" y="112455"/>
                  <a:pt x="27593" y="118795"/>
                  <a:pt x="33546" y="122188"/>
                </a:cubicBezTo>
                <a:lnTo>
                  <a:pt x="85933" y="151864"/>
                </a:lnTo>
                <a:cubicBezTo>
                  <a:pt x="91767" y="155168"/>
                  <a:pt x="98881" y="155168"/>
                  <a:pt x="104715" y="151864"/>
                </a:cubicBezTo>
                <a:lnTo>
                  <a:pt x="157103" y="122188"/>
                </a:lnTo>
                <a:cubicBezTo>
                  <a:pt x="163086" y="118795"/>
                  <a:pt x="166747" y="112484"/>
                  <a:pt x="166747" y="105608"/>
                </a:cubicBezTo>
                <a:lnTo>
                  <a:pt x="166747" y="70634"/>
                </a:lnTo>
                <a:close/>
                <a:moveTo>
                  <a:pt x="95339" y="67687"/>
                </a:moveTo>
                <a:lnTo>
                  <a:pt x="50661" y="42863"/>
                </a:lnTo>
                <a:lnTo>
                  <a:pt x="95339" y="18038"/>
                </a:lnTo>
                <a:lnTo>
                  <a:pt x="140018" y="42863"/>
                </a:lnTo>
                <a:lnTo>
                  <a:pt x="95339" y="67687"/>
                </a:lnTo>
                <a:close/>
                <a:moveTo>
                  <a:pt x="82987" y="82629"/>
                </a:moveTo>
                <a:lnTo>
                  <a:pt x="76646" y="96381"/>
                </a:lnTo>
                <a:lnTo>
                  <a:pt x="27295" y="69949"/>
                </a:lnTo>
                <a:lnTo>
                  <a:pt x="34856" y="55900"/>
                </a:lnTo>
                <a:lnTo>
                  <a:pt x="82987" y="82629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39" name="Text 36"/>
          <p:cNvSpPr/>
          <p:nvPr/>
        </p:nvSpPr>
        <p:spPr>
          <a:xfrm>
            <a:off x="6810375" y="5492502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 Capital at Risk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810375" y="5759202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$2.71M in unsold inventory represents working capital that could be deployed more efficiently.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754" y="377754"/>
            <a:ext cx="11502600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spc="104" kern="0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754" y="642181"/>
            <a:ext cx="11663145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Vendor Concentration &amp; Dependency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2476" y="1289084"/>
            <a:ext cx="5590754" cy="5562423"/>
          </a:xfrm>
          <a:custGeom>
            <a:avLst/>
            <a:gdLst/>
            <a:ahLst/>
            <a:cxnLst/>
            <a:rect l="l" t="t" r="r" b="b"/>
            <a:pathLst>
              <a:path w="5590754" h="5562423">
                <a:moveTo>
                  <a:pt x="75538" y="0"/>
                </a:moveTo>
                <a:lnTo>
                  <a:pt x="5515217" y="0"/>
                </a:lnTo>
                <a:cubicBezTo>
                  <a:pt x="5556935" y="0"/>
                  <a:pt x="5590754" y="33819"/>
                  <a:pt x="5590754" y="75538"/>
                </a:cubicBezTo>
                <a:lnTo>
                  <a:pt x="5590754" y="5486885"/>
                </a:lnTo>
                <a:cubicBezTo>
                  <a:pt x="5590754" y="5528604"/>
                  <a:pt x="5556935" y="5562423"/>
                  <a:pt x="5515217" y="5562423"/>
                </a:cubicBezTo>
                <a:lnTo>
                  <a:pt x="75538" y="5562423"/>
                </a:lnTo>
                <a:cubicBezTo>
                  <a:pt x="33819" y="5562423"/>
                  <a:pt x="0" y="5528604"/>
                  <a:pt x="0" y="5486885"/>
                </a:cubicBezTo>
                <a:lnTo>
                  <a:pt x="0" y="75538"/>
                </a:lnTo>
                <a:cubicBezTo>
                  <a:pt x="0" y="33847"/>
                  <a:pt x="33847" y="0"/>
                  <a:pt x="7553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4" y="1482683"/>
            <a:ext cx="5297995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Purchase Distribution</a:t>
            </a:r>
            <a:endParaRPr lang="en-US" sz="1600" dirty="0"/>
          </a:p>
        </p:txBody>
      </p:sp>
      <p:pic>
        <p:nvPicPr>
          <p:cNvPr id="6" name="Image 0" descr="https://kimi-img.moonshot.cn/pub/slides/26-02-05-02:27:25-d61ov3aj4egk1lkqoes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4" y="1898212"/>
            <a:ext cx="5156338" cy="4759696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212425" y="1289084"/>
            <a:ext cx="5590754" cy="1633785"/>
          </a:xfrm>
          <a:custGeom>
            <a:avLst/>
            <a:gdLst/>
            <a:ahLst/>
            <a:cxnLst/>
            <a:rect l="l" t="t" r="r" b="b"/>
            <a:pathLst>
              <a:path w="5590754" h="1633785">
                <a:moveTo>
                  <a:pt x="75546" y="0"/>
                </a:moveTo>
                <a:lnTo>
                  <a:pt x="5515208" y="0"/>
                </a:lnTo>
                <a:cubicBezTo>
                  <a:pt x="5556931" y="0"/>
                  <a:pt x="5590754" y="33823"/>
                  <a:pt x="5590754" y="75546"/>
                </a:cubicBezTo>
                <a:lnTo>
                  <a:pt x="5590754" y="1558238"/>
                </a:lnTo>
                <a:cubicBezTo>
                  <a:pt x="5590754" y="1599961"/>
                  <a:pt x="5556931" y="1633785"/>
                  <a:pt x="5515208" y="1633785"/>
                </a:cubicBezTo>
                <a:lnTo>
                  <a:pt x="75546" y="1633785"/>
                </a:lnTo>
                <a:cubicBezTo>
                  <a:pt x="33823" y="1633785"/>
                  <a:pt x="0" y="1599961"/>
                  <a:pt x="0" y="1558238"/>
                </a:cubicBezTo>
                <a:lnTo>
                  <a:pt x="0" y="75546"/>
                </a:lnTo>
                <a:cubicBezTo>
                  <a:pt x="0" y="33851"/>
                  <a:pt x="33851" y="0"/>
                  <a:pt x="75546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56A">
                  <a:alpha val="20000"/>
                </a:srgbClr>
              </a:gs>
              <a:gs pos="100000">
                <a:srgbClr val="C5A56A">
                  <a:alpha val="5000"/>
                </a:srgbClr>
              </a:gs>
            </a:gsLst>
            <a:lin ang="2700000" scaled="1"/>
          </a:gradFill>
          <a:ln w="12700">
            <a:solidFill>
              <a:srgbClr val="C5A56A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6024" y="1482683"/>
            <a:ext cx="604406" cy="604406"/>
          </a:xfrm>
          <a:custGeom>
            <a:avLst/>
            <a:gdLst/>
            <a:ahLst/>
            <a:cxnLst/>
            <a:rect l="l" t="t" r="r" b="b"/>
            <a:pathLst>
              <a:path w="604406" h="604406">
                <a:moveTo>
                  <a:pt x="302203" y="0"/>
                </a:moveTo>
                <a:lnTo>
                  <a:pt x="302203" y="0"/>
                </a:lnTo>
                <a:cubicBezTo>
                  <a:pt x="468993" y="0"/>
                  <a:pt x="604406" y="135413"/>
                  <a:pt x="604406" y="302203"/>
                </a:cubicBezTo>
                <a:lnTo>
                  <a:pt x="604406" y="302203"/>
                </a:lnTo>
                <a:cubicBezTo>
                  <a:pt x="604406" y="468993"/>
                  <a:pt x="468993" y="604406"/>
                  <a:pt x="302203" y="604406"/>
                </a:cubicBezTo>
                <a:lnTo>
                  <a:pt x="302203" y="604406"/>
                </a:lnTo>
                <a:cubicBezTo>
                  <a:pt x="135413" y="604406"/>
                  <a:pt x="0" y="468993"/>
                  <a:pt x="0" y="302203"/>
                </a:cubicBezTo>
                <a:lnTo>
                  <a:pt x="0" y="302203"/>
                </a:lnTo>
                <a:cubicBezTo>
                  <a:pt x="0" y="135413"/>
                  <a:pt x="135413" y="0"/>
                  <a:pt x="302203" y="0"/>
                </a:cubicBezTo>
                <a:close/>
              </a:path>
            </a:pathLst>
          </a:custGeom>
          <a:solidFill>
            <a:srgbClr val="C5A56A">
              <a:alpha val="3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300813" y="1614897"/>
            <a:ext cx="953828" cy="339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31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65.7%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61531" y="1558234"/>
            <a:ext cx="1907656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spc="26" kern="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Finding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61531" y="1747111"/>
            <a:ext cx="1926544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10 Vendors' Share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6024" y="2238191"/>
            <a:ext cx="5279108" cy="491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Nearly two-thirds of total purchases are concentrated among just 10 vendors, creating significant dependency risk.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2425" y="3083414"/>
            <a:ext cx="5590754" cy="2615944"/>
          </a:xfrm>
          <a:custGeom>
            <a:avLst/>
            <a:gdLst/>
            <a:ahLst/>
            <a:cxnLst/>
            <a:rect l="l" t="t" r="r" b="b"/>
            <a:pathLst>
              <a:path w="5590754" h="2615944">
                <a:moveTo>
                  <a:pt x="75548" y="0"/>
                </a:moveTo>
                <a:lnTo>
                  <a:pt x="5515206" y="0"/>
                </a:lnTo>
                <a:cubicBezTo>
                  <a:pt x="5556930" y="0"/>
                  <a:pt x="5590754" y="33824"/>
                  <a:pt x="5590754" y="75548"/>
                </a:cubicBezTo>
                <a:lnTo>
                  <a:pt x="5590754" y="2540396"/>
                </a:lnTo>
                <a:cubicBezTo>
                  <a:pt x="5590754" y="2582120"/>
                  <a:pt x="5556930" y="2615944"/>
                  <a:pt x="5515206" y="2615944"/>
                </a:cubicBezTo>
                <a:lnTo>
                  <a:pt x="75548" y="2615944"/>
                </a:lnTo>
                <a:cubicBezTo>
                  <a:pt x="33824" y="2615944"/>
                  <a:pt x="0" y="2582120"/>
                  <a:pt x="0" y="2540396"/>
                </a:cubicBezTo>
                <a:lnTo>
                  <a:pt x="0" y="75548"/>
                </a:lnTo>
                <a:cubicBezTo>
                  <a:pt x="0" y="33852"/>
                  <a:pt x="33852" y="0"/>
                  <a:pt x="7554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29633" y="3324232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84995" y="0"/>
                </a:moveTo>
                <a:cubicBezTo>
                  <a:pt x="89875" y="0"/>
                  <a:pt x="94357" y="2689"/>
                  <a:pt x="96681" y="6972"/>
                </a:cubicBezTo>
                <a:lnTo>
                  <a:pt x="168396" y="139776"/>
                </a:lnTo>
                <a:cubicBezTo>
                  <a:pt x="170620" y="143893"/>
                  <a:pt x="170520" y="148873"/>
                  <a:pt x="168130" y="152891"/>
                </a:cubicBezTo>
                <a:cubicBezTo>
                  <a:pt x="165739" y="156908"/>
                  <a:pt x="161390" y="159365"/>
                  <a:pt x="156709" y="159365"/>
                </a:cubicBezTo>
                <a:lnTo>
                  <a:pt x="13280" y="159365"/>
                </a:lnTo>
                <a:cubicBezTo>
                  <a:pt x="8599" y="159365"/>
                  <a:pt x="4283" y="156908"/>
                  <a:pt x="1859" y="152891"/>
                </a:cubicBezTo>
                <a:cubicBezTo>
                  <a:pt x="-564" y="148873"/>
                  <a:pt x="-631" y="143893"/>
                  <a:pt x="1594" y="139776"/>
                </a:cubicBezTo>
                <a:lnTo>
                  <a:pt x="73308" y="6972"/>
                </a:lnTo>
                <a:cubicBezTo>
                  <a:pt x="75632" y="2689"/>
                  <a:pt x="80114" y="0"/>
                  <a:pt x="84995" y="0"/>
                </a:cubicBezTo>
                <a:close/>
                <a:moveTo>
                  <a:pt x="84995" y="55778"/>
                </a:moveTo>
                <a:cubicBezTo>
                  <a:pt x="80579" y="55778"/>
                  <a:pt x="77026" y="59330"/>
                  <a:pt x="77026" y="63746"/>
                </a:cubicBezTo>
                <a:lnTo>
                  <a:pt x="77026" y="100931"/>
                </a:lnTo>
                <a:cubicBezTo>
                  <a:pt x="77026" y="105347"/>
                  <a:pt x="80579" y="108899"/>
                  <a:pt x="84995" y="108899"/>
                </a:cubicBezTo>
                <a:cubicBezTo>
                  <a:pt x="89410" y="108899"/>
                  <a:pt x="92963" y="105347"/>
                  <a:pt x="92963" y="100931"/>
                </a:cubicBezTo>
                <a:lnTo>
                  <a:pt x="92963" y="63746"/>
                </a:lnTo>
                <a:cubicBezTo>
                  <a:pt x="92963" y="59330"/>
                  <a:pt x="89410" y="55778"/>
                  <a:pt x="84995" y="55778"/>
                </a:cubicBezTo>
                <a:close/>
                <a:moveTo>
                  <a:pt x="93859" y="127492"/>
                </a:moveTo>
                <a:cubicBezTo>
                  <a:pt x="94061" y="124201"/>
                  <a:pt x="92420" y="121071"/>
                  <a:pt x="89599" y="119365"/>
                </a:cubicBezTo>
                <a:cubicBezTo>
                  <a:pt x="86778" y="117658"/>
                  <a:pt x="83244" y="117658"/>
                  <a:pt x="80423" y="119365"/>
                </a:cubicBezTo>
                <a:cubicBezTo>
                  <a:pt x="77602" y="121071"/>
                  <a:pt x="75961" y="124201"/>
                  <a:pt x="76163" y="127492"/>
                </a:cubicBezTo>
                <a:cubicBezTo>
                  <a:pt x="75961" y="130782"/>
                  <a:pt x="77602" y="133913"/>
                  <a:pt x="80423" y="135619"/>
                </a:cubicBezTo>
                <a:cubicBezTo>
                  <a:pt x="83244" y="137325"/>
                  <a:pt x="86778" y="137325"/>
                  <a:pt x="89599" y="135619"/>
                </a:cubicBezTo>
                <a:cubicBezTo>
                  <a:pt x="92420" y="133913"/>
                  <a:pt x="94061" y="130782"/>
                  <a:pt x="93859" y="127492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5" name="Text 12"/>
          <p:cNvSpPr/>
          <p:nvPr/>
        </p:nvSpPr>
        <p:spPr>
          <a:xfrm>
            <a:off x="6623232" y="3277013"/>
            <a:ext cx="5071343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Risk Factors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06024" y="3768093"/>
            <a:ext cx="75551" cy="75551"/>
          </a:xfrm>
          <a:custGeom>
            <a:avLst/>
            <a:gdLst/>
            <a:ahLst/>
            <a:cxnLst/>
            <a:rect l="l" t="t" r="r" b="b"/>
            <a:pathLst>
              <a:path w="75551" h="75551">
                <a:moveTo>
                  <a:pt x="37775" y="0"/>
                </a:moveTo>
                <a:lnTo>
                  <a:pt x="37775" y="0"/>
                </a:lnTo>
                <a:cubicBezTo>
                  <a:pt x="58624" y="0"/>
                  <a:pt x="75551" y="16927"/>
                  <a:pt x="75551" y="37775"/>
                </a:cubicBezTo>
                <a:lnTo>
                  <a:pt x="75551" y="37775"/>
                </a:lnTo>
                <a:cubicBezTo>
                  <a:pt x="75551" y="58624"/>
                  <a:pt x="58624" y="75551"/>
                  <a:pt x="37775" y="75551"/>
                </a:cubicBezTo>
                <a:lnTo>
                  <a:pt x="37775" y="75551"/>
                </a:lnTo>
                <a:cubicBezTo>
                  <a:pt x="16927" y="75551"/>
                  <a:pt x="0" y="58624"/>
                  <a:pt x="0" y="37775"/>
                </a:cubicBezTo>
                <a:lnTo>
                  <a:pt x="0" y="37775"/>
                </a:lnTo>
                <a:cubicBezTo>
                  <a:pt x="0" y="16927"/>
                  <a:pt x="16927" y="0"/>
                  <a:pt x="37775" y="0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7" name="Text 14"/>
          <p:cNvSpPr/>
          <p:nvPr/>
        </p:nvSpPr>
        <p:spPr>
          <a:xfrm>
            <a:off x="6594900" y="3692542"/>
            <a:ext cx="5090231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Supply Chain Disruptions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94900" y="3919194"/>
            <a:ext cx="5090231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operational issue with a top vendor could immediately impact product availability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6024" y="4561376"/>
            <a:ext cx="75551" cy="75551"/>
          </a:xfrm>
          <a:custGeom>
            <a:avLst/>
            <a:gdLst/>
            <a:ahLst/>
            <a:cxnLst/>
            <a:rect l="l" t="t" r="r" b="b"/>
            <a:pathLst>
              <a:path w="75551" h="75551">
                <a:moveTo>
                  <a:pt x="37775" y="0"/>
                </a:moveTo>
                <a:lnTo>
                  <a:pt x="37775" y="0"/>
                </a:lnTo>
                <a:cubicBezTo>
                  <a:pt x="58624" y="0"/>
                  <a:pt x="75551" y="16927"/>
                  <a:pt x="75551" y="37775"/>
                </a:cubicBezTo>
                <a:lnTo>
                  <a:pt x="75551" y="37775"/>
                </a:lnTo>
                <a:cubicBezTo>
                  <a:pt x="75551" y="58624"/>
                  <a:pt x="58624" y="75551"/>
                  <a:pt x="37775" y="75551"/>
                </a:cubicBezTo>
                <a:lnTo>
                  <a:pt x="37775" y="75551"/>
                </a:lnTo>
                <a:cubicBezTo>
                  <a:pt x="16927" y="75551"/>
                  <a:pt x="0" y="58624"/>
                  <a:pt x="0" y="37775"/>
                </a:cubicBezTo>
                <a:lnTo>
                  <a:pt x="0" y="37775"/>
                </a:lnTo>
                <a:cubicBezTo>
                  <a:pt x="0" y="16927"/>
                  <a:pt x="16927" y="0"/>
                  <a:pt x="37775" y="0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20" name="Text 17"/>
          <p:cNvSpPr/>
          <p:nvPr/>
        </p:nvSpPr>
        <p:spPr>
          <a:xfrm>
            <a:off x="6594900" y="4485825"/>
            <a:ext cx="4334723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Pricing Leverage Imbalance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94900" y="4712477"/>
            <a:ext cx="4334723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negotiating power due to heavy reliance on few suppliers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06024" y="5128006"/>
            <a:ext cx="75551" cy="75551"/>
          </a:xfrm>
          <a:custGeom>
            <a:avLst/>
            <a:gdLst/>
            <a:ahLst/>
            <a:cxnLst/>
            <a:rect l="l" t="t" r="r" b="b"/>
            <a:pathLst>
              <a:path w="75551" h="75551">
                <a:moveTo>
                  <a:pt x="37775" y="0"/>
                </a:moveTo>
                <a:lnTo>
                  <a:pt x="37775" y="0"/>
                </a:lnTo>
                <a:cubicBezTo>
                  <a:pt x="58624" y="0"/>
                  <a:pt x="75551" y="16927"/>
                  <a:pt x="75551" y="37775"/>
                </a:cubicBezTo>
                <a:lnTo>
                  <a:pt x="75551" y="37775"/>
                </a:lnTo>
                <a:cubicBezTo>
                  <a:pt x="75551" y="58624"/>
                  <a:pt x="58624" y="75551"/>
                  <a:pt x="37775" y="75551"/>
                </a:cubicBezTo>
                <a:lnTo>
                  <a:pt x="37775" y="75551"/>
                </a:lnTo>
                <a:cubicBezTo>
                  <a:pt x="16927" y="75551"/>
                  <a:pt x="0" y="58624"/>
                  <a:pt x="0" y="37775"/>
                </a:cubicBezTo>
                <a:lnTo>
                  <a:pt x="0" y="37775"/>
                </a:lnTo>
                <a:cubicBezTo>
                  <a:pt x="0" y="16927"/>
                  <a:pt x="16927" y="0"/>
                  <a:pt x="37775" y="0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23" name="Text 20"/>
          <p:cNvSpPr/>
          <p:nvPr/>
        </p:nvSpPr>
        <p:spPr>
          <a:xfrm>
            <a:off x="6594900" y="5052455"/>
            <a:ext cx="402307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Risk Concentration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94900" y="5279108"/>
            <a:ext cx="402307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point of failure vulnerability across critical supply lines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12425" y="5859904"/>
            <a:ext cx="5590754" cy="991603"/>
          </a:xfrm>
          <a:custGeom>
            <a:avLst/>
            <a:gdLst/>
            <a:ahLst/>
            <a:cxnLst/>
            <a:rect l="l" t="t" r="r" b="b"/>
            <a:pathLst>
              <a:path w="5590754" h="991603">
                <a:moveTo>
                  <a:pt x="75550" y="0"/>
                </a:moveTo>
                <a:lnTo>
                  <a:pt x="5515204" y="0"/>
                </a:lnTo>
                <a:cubicBezTo>
                  <a:pt x="5556902" y="0"/>
                  <a:pt x="5590754" y="33853"/>
                  <a:pt x="5590754" y="75550"/>
                </a:cubicBezTo>
                <a:lnTo>
                  <a:pt x="5590754" y="916053"/>
                </a:lnTo>
                <a:cubicBezTo>
                  <a:pt x="5590754" y="957778"/>
                  <a:pt x="5556929" y="991603"/>
                  <a:pt x="5515204" y="991603"/>
                </a:cubicBezTo>
                <a:lnTo>
                  <a:pt x="75550" y="991603"/>
                </a:lnTo>
                <a:cubicBezTo>
                  <a:pt x="33853" y="991603"/>
                  <a:pt x="0" y="957750"/>
                  <a:pt x="0" y="916053"/>
                </a:cubicBezTo>
                <a:lnTo>
                  <a:pt x="0" y="75550"/>
                </a:lnTo>
                <a:cubicBezTo>
                  <a:pt x="0" y="33853"/>
                  <a:pt x="33853" y="0"/>
                  <a:pt x="755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A">
                  <a:alpha val="20000"/>
                </a:srgbClr>
              </a:gs>
              <a:gs pos="100000">
                <a:srgbClr val="C5A56A">
                  <a:alpha val="20000"/>
                </a:srgbClr>
              </a:gs>
            </a:gsLst>
            <a:lin ang="0" scaled="1"/>
          </a:gradFill>
          <a:ln w="12700">
            <a:solidFill>
              <a:srgbClr val="C5A56A">
                <a:alpha val="3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6024" y="6053503"/>
            <a:ext cx="113326" cy="151101"/>
          </a:xfrm>
          <a:custGeom>
            <a:avLst/>
            <a:gdLst/>
            <a:ahLst/>
            <a:cxnLst/>
            <a:rect l="l" t="t" r="r" b="b"/>
            <a:pathLst>
              <a:path w="113326" h="151101">
                <a:moveTo>
                  <a:pt x="86441" y="113326"/>
                </a:moveTo>
                <a:cubicBezTo>
                  <a:pt x="88595" y="106745"/>
                  <a:pt x="92904" y="100784"/>
                  <a:pt x="97773" y="95648"/>
                </a:cubicBezTo>
                <a:cubicBezTo>
                  <a:pt x="107424" y="85496"/>
                  <a:pt x="113326" y="71773"/>
                  <a:pt x="113326" y="56663"/>
                </a:cubicBezTo>
                <a:cubicBezTo>
                  <a:pt x="113326" y="25380"/>
                  <a:pt x="87946" y="0"/>
                  <a:pt x="56663" y="0"/>
                </a:cubicBezTo>
                <a:cubicBezTo>
                  <a:pt x="25380" y="0"/>
                  <a:pt x="0" y="25380"/>
                  <a:pt x="0" y="56663"/>
                </a:cubicBezTo>
                <a:cubicBezTo>
                  <a:pt x="0" y="71773"/>
                  <a:pt x="5902" y="85496"/>
                  <a:pt x="15553" y="95648"/>
                </a:cubicBezTo>
                <a:cubicBezTo>
                  <a:pt x="20422" y="100784"/>
                  <a:pt x="24761" y="106745"/>
                  <a:pt x="26885" y="113326"/>
                </a:cubicBezTo>
                <a:lnTo>
                  <a:pt x="86411" y="113326"/>
                </a:lnTo>
                <a:close/>
                <a:moveTo>
                  <a:pt x="84995" y="127492"/>
                </a:moveTo>
                <a:lnTo>
                  <a:pt x="28332" y="127492"/>
                </a:lnTo>
                <a:lnTo>
                  <a:pt x="28332" y="132214"/>
                </a:lnTo>
                <a:cubicBezTo>
                  <a:pt x="28332" y="145258"/>
                  <a:pt x="38897" y="155823"/>
                  <a:pt x="51941" y="155823"/>
                </a:cubicBezTo>
                <a:lnTo>
                  <a:pt x="61385" y="155823"/>
                </a:lnTo>
                <a:cubicBezTo>
                  <a:pt x="74429" y="155823"/>
                  <a:pt x="84995" y="145258"/>
                  <a:pt x="84995" y="132214"/>
                </a:cubicBezTo>
                <a:lnTo>
                  <a:pt x="84995" y="127492"/>
                </a:lnTo>
                <a:close/>
                <a:moveTo>
                  <a:pt x="54302" y="33053"/>
                </a:moveTo>
                <a:cubicBezTo>
                  <a:pt x="42556" y="33053"/>
                  <a:pt x="33053" y="42556"/>
                  <a:pt x="33053" y="54302"/>
                </a:cubicBezTo>
                <a:cubicBezTo>
                  <a:pt x="33053" y="58227"/>
                  <a:pt x="29896" y="61385"/>
                  <a:pt x="25971" y="61385"/>
                </a:cubicBezTo>
                <a:cubicBezTo>
                  <a:pt x="22045" y="61385"/>
                  <a:pt x="18888" y="58227"/>
                  <a:pt x="18888" y="54302"/>
                </a:cubicBezTo>
                <a:cubicBezTo>
                  <a:pt x="18888" y="34736"/>
                  <a:pt x="34736" y="18888"/>
                  <a:pt x="54302" y="18888"/>
                </a:cubicBezTo>
                <a:cubicBezTo>
                  <a:pt x="58227" y="18888"/>
                  <a:pt x="61385" y="22045"/>
                  <a:pt x="61385" y="25971"/>
                </a:cubicBezTo>
                <a:cubicBezTo>
                  <a:pt x="61385" y="29896"/>
                  <a:pt x="58227" y="33053"/>
                  <a:pt x="54302" y="33053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27" name="Text 24"/>
          <p:cNvSpPr/>
          <p:nvPr/>
        </p:nvSpPr>
        <p:spPr>
          <a:xfrm>
            <a:off x="6613305" y="6015727"/>
            <a:ext cx="5109601" cy="67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Recommendation:</a:t>
            </a:r>
            <a:pPr>
              <a:lnSpc>
                <a:spcPct val="130000"/>
              </a:lnSpc>
            </a:pPr>
            <a:r>
              <a:rPr lang="en-US" sz="119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Gradually diversify procurement by scaling reliable mid-tier vendors and using performance metrics to identify expansion candidates.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274" y="341274"/>
            <a:ext cx="11569176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spc="94" kern="0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Leaders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274" y="580165"/>
            <a:ext cx="11714217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2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Vendors and Brand Performance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5540" y="1164596"/>
            <a:ext cx="5648078" cy="3216504"/>
          </a:xfrm>
          <a:custGeom>
            <a:avLst/>
            <a:gdLst/>
            <a:ahLst/>
            <a:cxnLst/>
            <a:rect l="l" t="t" r="r" b="b"/>
            <a:pathLst>
              <a:path w="5648078" h="3216504">
                <a:moveTo>
                  <a:pt x="68254" y="0"/>
                </a:moveTo>
                <a:lnTo>
                  <a:pt x="5579824" y="0"/>
                </a:lnTo>
                <a:cubicBezTo>
                  <a:pt x="5617520" y="0"/>
                  <a:pt x="5648078" y="30558"/>
                  <a:pt x="5648078" y="68254"/>
                </a:cubicBezTo>
                <a:lnTo>
                  <a:pt x="5648078" y="3148250"/>
                </a:lnTo>
                <a:cubicBezTo>
                  <a:pt x="5648078" y="3185945"/>
                  <a:pt x="5617520" y="3216504"/>
                  <a:pt x="5579824" y="3216504"/>
                </a:cubicBezTo>
                <a:lnTo>
                  <a:pt x="68254" y="3216504"/>
                </a:lnTo>
                <a:cubicBezTo>
                  <a:pt x="30558" y="3216504"/>
                  <a:pt x="0" y="3185945"/>
                  <a:pt x="0" y="3148250"/>
                </a:cubicBezTo>
                <a:lnTo>
                  <a:pt x="0" y="68254"/>
                </a:lnTo>
                <a:cubicBezTo>
                  <a:pt x="0" y="30584"/>
                  <a:pt x="30584" y="0"/>
                  <a:pt x="68254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56A">
                  <a:alpha val="20000"/>
                </a:srgbClr>
              </a:gs>
              <a:gs pos="100000">
                <a:srgbClr val="C5A56A">
                  <a:alpha val="5000"/>
                </a:srgbClr>
              </a:gs>
            </a:gsLst>
            <a:lin ang="2700000" scaled="1"/>
          </a:gradFill>
          <a:ln w="12700">
            <a:solidFill>
              <a:srgbClr val="C5A56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6038" y="1356563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57710" y="0"/>
                </a:moveTo>
                <a:lnTo>
                  <a:pt x="147294" y="0"/>
                </a:lnTo>
                <a:cubicBezTo>
                  <a:pt x="157892" y="0"/>
                  <a:pt x="166531" y="8718"/>
                  <a:pt x="166131" y="19277"/>
                </a:cubicBezTo>
                <a:cubicBezTo>
                  <a:pt x="166051" y="21396"/>
                  <a:pt x="165971" y="23516"/>
                  <a:pt x="165851" y="25596"/>
                </a:cubicBezTo>
                <a:lnTo>
                  <a:pt x="185688" y="25596"/>
                </a:lnTo>
                <a:cubicBezTo>
                  <a:pt x="196126" y="25596"/>
                  <a:pt x="205324" y="34234"/>
                  <a:pt x="204524" y="45512"/>
                </a:cubicBezTo>
                <a:cubicBezTo>
                  <a:pt x="201525" y="86985"/>
                  <a:pt x="180328" y="109781"/>
                  <a:pt x="157332" y="121699"/>
                </a:cubicBezTo>
                <a:cubicBezTo>
                  <a:pt x="151014" y="124978"/>
                  <a:pt x="144575" y="127418"/>
                  <a:pt x="138456" y="129217"/>
                </a:cubicBezTo>
                <a:cubicBezTo>
                  <a:pt x="130377" y="140655"/>
                  <a:pt x="121979" y="146694"/>
                  <a:pt x="115300" y="149934"/>
                </a:cubicBezTo>
                <a:lnTo>
                  <a:pt x="115300" y="179169"/>
                </a:lnTo>
                <a:lnTo>
                  <a:pt x="140895" y="179169"/>
                </a:lnTo>
                <a:cubicBezTo>
                  <a:pt x="147974" y="179169"/>
                  <a:pt x="153693" y="184888"/>
                  <a:pt x="153693" y="191966"/>
                </a:cubicBezTo>
                <a:cubicBezTo>
                  <a:pt x="153693" y="199045"/>
                  <a:pt x="147974" y="204764"/>
                  <a:pt x="140895" y="204764"/>
                </a:cubicBezTo>
                <a:lnTo>
                  <a:pt x="64109" y="204764"/>
                </a:lnTo>
                <a:cubicBezTo>
                  <a:pt x="57030" y="204764"/>
                  <a:pt x="51311" y="199045"/>
                  <a:pt x="51311" y="191966"/>
                </a:cubicBezTo>
                <a:cubicBezTo>
                  <a:pt x="51311" y="184888"/>
                  <a:pt x="57030" y="179169"/>
                  <a:pt x="64109" y="179169"/>
                </a:cubicBezTo>
                <a:lnTo>
                  <a:pt x="89704" y="179169"/>
                </a:lnTo>
                <a:lnTo>
                  <a:pt x="89704" y="149934"/>
                </a:lnTo>
                <a:cubicBezTo>
                  <a:pt x="83305" y="146854"/>
                  <a:pt x="75347" y="141135"/>
                  <a:pt x="67588" y="130617"/>
                </a:cubicBezTo>
                <a:cubicBezTo>
                  <a:pt x="60229" y="128697"/>
                  <a:pt x="52231" y="125778"/>
                  <a:pt x="44432" y="121379"/>
                </a:cubicBezTo>
                <a:cubicBezTo>
                  <a:pt x="22796" y="109261"/>
                  <a:pt x="3279" y="86425"/>
                  <a:pt x="480" y="45432"/>
                </a:cubicBezTo>
                <a:cubicBezTo>
                  <a:pt x="-280" y="34194"/>
                  <a:pt x="8878" y="25556"/>
                  <a:pt x="19317" y="25556"/>
                </a:cubicBezTo>
                <a:lnTo>
                  <a:pt x="39153" y="25556"/>
                </a:lnTo>
                <a:cubicBezTo>
                  <a:pt x="39033" y="23476"/>
                  <a:pt x="38953" y="21396"/>
                  <a:pt x="38873" y="19237"/>
                </a:cubicBezTo>
                <a:cubicBezTo>
                  <a:pt x="38473" y="8638"/>
                  <a:pt x="47112" y="-40"/>
                  <a:pt x="57710" y="-40"/>
                </a:cubicBezTo>
                <a:close/>
                <a:moveTo>
                  <a:pt x="40593" y="44792"/>
                </a:moveTo>
                <a:lnTo>
                  <a:pt x="19637" y="44792"/>
                </a:lnTo>
                <a:cubicBezTo>
                  <a:pt x="22116" y="78666"/>
                  <a:pt x="37673" y="95623"/>
                  <a:pt x="53711" y="104622"/>
                </a:cubicBezTo>
                <a:cubicBezTo>
                  <a:pt x="47952" y="89704"/>
                  <a:pt x="43192" y="70228"/>
                  <a:pt x="40593" y="44792"/>
                </a:cubicBezTo>
                <a:close/>
                <a:moveTo>
                  <a:pt x="151973" y="102702"/>
                </a:moveTo>
                <a:cubicBezTo>
                  <a:pt x="168171" y="93184"/>
                  <a:pt x="182808" y="76267"/>
                  <a:pt x="185288" y="44792"/>
                </a:cubicBezTo>
                <a:lnTo>
                  <a:pt x="164371" y="44792"/>
                </a:lnTo>
                <a:cubicBezTo>
                  <a:pt x="161892" y="69148"/>
                  <a:pt x="157412" y="88065"/>
                  <a:pt x="151973" y="102702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6" name="Text 4"/>
          <p:cNvSpPr/>
          <p:nvPr/>
        </p:nvSpPr>
        <p:spPr>
          <a:xfrm>
            <a:off x="878780" y="1339499"/>
            <a:ext cx="1484540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Leading Vendors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0442" y="1714900"/>
            <a:ext cx="5298273" cy="546038"/>
          </a:xfrm>
          <a:custGeom>
            <a:avLst/>
            <a:gdLst/>
            <a:ahLst/>
            <a:cxnLst/>
            <a:rect l="l" t="t" r="r" b="b"/>
            <a:pathLst>
              <a:path w="5298273" h="546038">
                <a:moveTo>
                  <a:pt x="68255" y="0"/>
                </a:moveTo>
                <a:lnTo>
                  <a:pt x="5230018" y="0"/>
                </a:lnTo>
                <a:cubicBezTo>
                  <a:pt x="5267714" y="0"/>
                  <a:pt x="5298273" y="30559"/>
                  <a:pt x="5298273" y="68255"/>
                </a:cubicBezTo>
                <a:lnTo>
                  <a:pt x="5298273" y="477783"/>
                </a:lnTo>
                <a:cubicBezTo>
                  <a:pt x="5298273" y="515479"/>
                  <a:pt x="5267714" y="546038"/>
                  <a:pt x="5230018" y="546038"/>
                </a:cubicBezTo>
                <a:lnTo>
                  <a:pt x="68255" y="546038"/>
                </a:lnTo>
                <a:cubicBezTo>
                  <a:pt x="30584" y="546038"/>
                  <a:pt x="0" y="515454"/>
                  <a:pt x="0" y="477783"/>
                </a:cubicBezTo>
                <a:lnTo>
                  <a:pt x="0" y="68255"/>
                </a:lnTo>
                <a:cubicBezTo>
                  <a:pt x="0" y="30584"/>
                  <a:pt x="30584" y="0"/>
                  <a:pt x="6825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2824" y="1817282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>
                <a:moveTo>
                  <a:pt x="170637" y="0"/>
                </a:moveTo>
                <a:lnTo>
                  <a:pt x="170637" y="0"/>
                </a:lnTo>
                <a:cubicBezTo>
                  <a:pt x="264814" y="0"/>
                  <a:pt x="341274" y="76460"/>
                  <a:pt x="341274" y="170637"/>
                </a:cubicBezTo>
                <a:lnTo>
                  <a:pt x="341274" y="170637"/>
                </a:lnTo>
                <a:cubicBezTo>
                  <a:pt x="341274" y="264814"/>
                  <a:pt x="264814" y="341274"/>
                  <a:pt x="170637" y="341274"/>
                </a:cubicBezTo>
                <a:lnTo>
                  <a:pt x="170637" y="341274"/>
                </a:lnTo>
                <a:cubicBezTo>
                  <a:pt x="76460" y="341274"/>
                  <a:pt x="0" y="264814"/>
                  <a:pt x="0" y="170637"/>
                </a:cubicBezTo>
                <a:lnTo>
                  <a:pt x="0" y="170637"/>
                </a:lnTo>
                <a:cubicBezTo>
                  <a:pt x="0" y="76460"/>
                  <a:pt x="76460" y="0"/>
                  <a:pt x="170637" y="0"/>
                </a:cubicBezTo>
                <a:close/>
              </a:path>
            </a:pathLst>
          </a:custGeom>
          <a:solidFill>
            <a:srgbClr val="C5A56A">
              <a:alpha val="3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88697" y="1817282"/>
            <a:ext cx="409528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480" y="1885537"/>
            <a:ext cx="1544263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Diageo North America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51295" y="1919664"/>
            <a:ext cx="153573" cy="136509"/>
          </a:xfrm>
          <a:custGeom>
            <a:avLst/>
            <a:gdLst/>
            <a:ahLst/>
            <a:cxnLst/>
            <a:rect l="l" t="t" r="r" b="b"/>
            <a:pathLst>
              <a:path w="153573" h="136509">
                <a:moveTo>
                  <a:pt x="82519" y="-5039"/>
                </a:moveTo>
                <a:cubicBezTo>
                  <a:pt x="81426" y="-7172"/>
                  <a:pt x="79213" y="-8532"/>
                  <a:pt x="76813" y="-8532"/>
                </a:cubicBezTo>
                <a:cubicBezTo>
                  <a:pt x="74414" y="-8532"/>
                  <a:pt x="72201" y="-7172"/>
                  <a:pt x="71108" y="-5039"/>
                </a:cubicBezTo>
                <a:lnTo>
                  <a:pt x="51484" y="33407"/>
                </a:lnTo>
                <a:lnTo>
                  <a:pt x="8852" y="40180"/>
                </a:lnTo>
                <a:cubicBezTo>
                  <a:pt x="6479" y="40553"/>
                  <a:pt x="4506" y="42233"/>
                  <a:pt x="3759" y="44526"/>
                </a:cubicBezTo>
                <a:cubicBezTo>
                  <a:pt x="3013" y="46818"/>
                  <a:pt x="3626" y="49325"/>
                  <a:pt x="5306" y="51031"/>
                </a:cubicBezTo>
                <a:lnTo>
                  <a:pt x="35807" y="81559"/>
                </a:lnTo>
                <a:lnTo>
                  <a:pt x="29088" y="124192"/>
                </a:lnTo>
                <a:cubicBezTo>
                  <a:pt x="28715" y="126565"/>
                  <a:pt x="29701" y="128964"/>
                  <a:pt x="31648" y="130377"/>
                </a:cubicBezTo>
                <a:cubicBezTo>
                  <a:pt x="33594" y="131790"/>
                  <a:pt x="36154" y="132004"/>
                  <a:pt x="38313" y="130910"/>
                </a:cubicBezTo>
                <a:lnTo>
                  <a:pt x="76813" y="111341"/>
                </a:lnTo>
                <a:lnTo>
                  <a:pt x="115286" y="130910"/>
                </a:lnTo>
                <a:cubicBezTo>
                  <a:pt x="117419" y="132004"/>
                  <a:pt x="120006" y="131790"/>
                  <a:pt x="121952" y="130377"/>
                </a:cubicBezTo>
                <a:cubicBezTo>
                  <a:pt x="123898" y="128964"/>
                  <a:pt x="124885" y="126591"/>
                  <a:pt x="124512" y="124192"/>
                </a:cubicBezTo>
                <a:lnTo>
                  <a:pt x="117766" y="81559"/>
                </a:lnTo>
                <a:lnTo>
                  <a:pt x="148267" y="51031"/>
                </a:lnTo>
                <a:cubicBezTo>
                  <a:pt x="149974" y="49325"/>
                  <a:pt x="150560" y="46818"/>
                  <a:pt x="149814" y="44526"/>
                </a:cubicBezTo>
                <a:cubicBezTo>
                  <a:pt x="149067" y="42233"/>
                  <a:pt x="147121" y="40553"/>
                  <a:pt x="144721" y="40180"/>
                </a:cubicBezTo>
                <a:lnTo>
                  <a:pt x="102115" y="33407"/>
                </a:lnTo>
                <a:lnTo>
                  <a:pt x="82519" y="-5039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2" name="Shape 10"/>
          <p:cNvSpPr/>
          <p:nvPr/>
        </p:nvSpPr>
        <p:spPr>
          <a:xfrm>
            <a:off x="520442" y="2363320"/>
            <a:ext cx="5298273" cy="546038"/>
          </a:xfrm>
          <a:custGeom>
            <a:avLst/>
            <a:gdLst/>
            <a:ahLst/>
            <a:cxnLst/>
            <a:rect l="l" t="t" r="r" b="b"/>
            <a:pathLst>
              <a:path w="5298273" h="546038">
                <a:moveTo>
                  <a:pt x="68255" y="0"/>
                </a:moveTo>
                <a:lnTo>
                  <a:pt x="5230018" y="0"/>
                </a:lnTo>
                <a:cubicBezTo>
                  <a:pt x="5267714" y="0"/>
                  <a:pt x="5298273" y="30559"/>
                  <a:pt x="5298273" y="68255"/>
                </a:cubicBezTo>
                <a:lnTo>
                  <a:pt x="5298273" y="477783"/>
                </a:lnTo>
                <a:cubicBezTo>
                  <a:pt x="5298273" y="515479"/>
                  <a:pt x="5267714" y="546038"/>
                  <a:pt x="5230018" y="546038"/>
                </a:cubicBezTo>
                <a:lnTo>
                  <a:pt x="68255" y="546038"/>
                </a:lnTo>
                <a:cubicBezTo>
                  <a:pt x="30584" y="546038"/>
                  <a:pt x="0" y="515454"/>
                  <a:pt x="0" y="477783"/>
                </a:cubicBezTo>
                <a:lnTo>
                  <a:pt x="0" y="68255"/>
                </a:lnTo>
                <a:cubicBezTo>
                  <a:pt x="0" y="30584"/>
                  <a:pt x="30584" y="0"/>
                  <a:pt x="6825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22824" y="2465702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>
                <a:moveTo>
                  <a:pt x="170637" y="0"/>
                </a:moveTo>
                <a:lnTo>
                  <a:pt x="170637" y="0"/>
                </a:lnTo>
                <a:cubicBezTo>
                  <a:pt x="264814" y="0"/>
                  <a:pt x="341274" y="76460"/>
                  <a:pt x="341274" y="170637"/>
                </a:cubicBezTo>
                <a:lnTo>
                  <a:pt x="341274" y="170637"/>
                </a:lnTo>
                <a:cubicBezTo>
                  <a:pt x="341274" y="264814"/>
                  <a:pt x="264814" y="341274"/>
                  <a:pt x="170637" y="341274"/>
                </a:cubicBezTo>
                <a:lnTo>
                  <a:pt x="170637" y="341274"/>
                </a:lnTo>
                <a:cubicBezTo>
                  <a:pt x="76460" y="341274"/>
                  <a:pt x="0" y="264814"/>
                  <a:pt x="0" y="170637"/>
                </a:cubicBezTo>
                <a:lnTo>
                  <a:pt x="0" y="170637"/>
                </a:lnTo>
                <a:cubicBezTo>
                  <a:pt x="0" y="76460"/>
                  <a:pt x="76460" y="0"/>
                  <a:pt x="170637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88697" y="2465702"/>
            <a:ext cx="409528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3A5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480" y="2533957"/>
            <a:ext cx="157839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Martignetti Companies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51295" y="2568084"/>
            <a:ext cx="153573" cy="136509"/>
          </a:xfrm>
          <a:custGeom>
            <a:avLst/>
            <a:gdLst/>
            <a:ahLst/>
            <a:cxnLst/>
            <a:rect l="l" t="t" r="r" b="b"/>
            <a:pathLst>
              <a:path w="153573" h="136509">
                <a:moveTo>
                  <a:pt x="82519" y="-5039"/>
                </a:moveTo>
                <a:cubicBezTo>
                  <a:pt x="81426" y="-7172"/>
                  <a:pt x="79213" y="-8532"/>
                  <a:pt x="76813" y="-8532"/>
                </a:cubicBezTo>
                <a:cubicBezTo>
                  <a:pt x="74414" y="-8532"/>
                  <a:pt x="72201" y="-7172"/>
                  <a:pt x="71108" y="-5039"/>
                </a:cubicBezTo>
                <a:lnTo>
                  <a:pt x="51484" y="33407"/>
                </a:lnTo>
                <a:lnTo>
                  <a:pt x="8852" y="40180"/>
                </a:lnTo>
                <a:cubicBezTo>
                  <a:pt x="6479" y="40553"/>
                  <a:pt x="4506" y="42233"/>
                  <a:pt x="3759" y="44526"/>
                </a:cubicBezTo>
                <a:cubicBezTo>
                  <a:pt x="3013" y="46818"/>
                  <a:pt x="3626" y="49325"/>
                  <a:pt x="5306" y="51031"/>
                </a:cubicBezTo>
                <a:lnTo>
                  <a:pt x="35807" y="81559"/>
                </a:lnTo>
                <a:lnTo>
                  <a:pt x="29088" y="124192"/>
                </a:lnTo>
                <a:cubicBezTo>
                  <a:pt x="28715" y="126565"/>
                  <a:pt x="29701" y="128964"/>
                  <a:pt x="31648" y="130377"/>
                </a:cubicBezTo>
                <a:cubicBezTo>
                  <a:pt x="33594" y="131790"/>
                  <a:pt x="36154" y="132004"/>
                  <a:pt x="38313" y="130910"/>
                </a:cubicBezTo>
                <a:lnTo>
                  <a:pt x="76813" y="111341"/>
                </a:lnTo>
                <a:lnTo>
                  <a:pt x="115286" y="130910"/>
                </a:lnTo>
                <a:cubicBezTo>
                  <a:pt x="117419" y="132004"/>
                  <a:pt x="120006" y="131790"/>
                  <a:pt x="121952" y="130377"/>
                </a:cubicBezTo>
                <a:cubicBezTo>
                  <a:pt x="123898" y="128964"/>
                  <a:pt x="124885" y="126591"/>
                  <a:pt x="124512" y="124192"/>
                </a:cubicBezTo>
                <a:lnTo>
                  <a:pt x="117766" y="81559"/>
                </a:lnTo>
                <a:lnTo>
                  <a:pt x="148267" y="51031"/>
                </a:lnTo>
                <a:cubicBezTo>
                  <a:pt x="149974" y="49325"/>
                  <a:pt x="150560" y="46818"/>
                  <a:pt x="149814" y="44526"/>
                </a:cubicBezTo>
                <a:cubicBezTo>
                  <a:pt x="149067" y="42233"/>
                  <a:pt x="147121" y="40553"/>
                  <a:pt x="144721" y="40180"/>
                </a:cubicBezTo>
                <a:lnTo>
                  <a:pt x="102115" y="33407"/>
                </a:lnTo>
                <a:lnTo>
                  <a:pt x="82519" y="-5039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7" name="Shape 15"/>
          <p:cNvSpPr/>
          <p:nvPr/>
        </p:nvSpPr>
        <p:spPr>
          <a:xfrm>
            <a:off x="520442" y="3011740"/>
            <a:ext cx="5298273" cy="546038"/>
          </a:xfrm>
          <a:custGeom>
            <a:avLst/>
            <a:gdLst/>
            <a:ahLst/>
            <a:cxnLst/>
            <a:rect l="l" t="t" r="r" b="b"/>
            <a:pathLst>
              <a:path w="5298273" h="546038">
                <a:moveTo>
                  <a:pt x="68255" y="0"/>
                </a:moveTo>
                <a:lnTo>
                  <a:pt x="5230018" y="0"/>
                </a:lnTo>
                <a:cubicBezTo>
                  <a:pt x="5267714" y="0"/>
                  <a:pt x="5298273" y="30559"/>
                  <a:pt x="5298273" y="68255"/>
                </a:cubicBezTo>
                <a:lnTo>
                  <a:pt x="5298273" y="477783"/>
                </a:lnTo>
                <a:cubicBezTo>
                  <a:pt x="5298273" y="515479"/>
                  <a:pt x="5267714" y="546038"/>
                  <a:pt x="5230018" y="546038"/>
                </a:cubicBezTo>
                <a:lnTo>
                  <a:pt x="68255" y="546038"/>
                </a:lnTo>
                <a:cubicBezTo>
                  <a:pt x="30584" y="546038"/>
                  <a:pt x="0" y="515454"/>
                  <a:pt x="0" y="477783"/>
                </a:cubicBezTo>
                <a:lnTo>
                  <a:pt x="0" y="68255"/>
                </a:lnTo>
                <a:cubicBezTo>
                  <a:pt x="0" y="30584"/>
                  <a:pt x="30584" y="0"/>
                  <a:pt x="6825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22824" y="3114122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>
                <a:moveTo>
                  <a:pt x="170637" y="0"/>
                </a:moveTo>
                <a:lnTo>
                  <a:pt x="170637" y="0"/>
                </a:lnTo>
                <a:cubicBezTo>
                  <a:pt x="264814" y="0"/>
                  <a:pt x="341274" y="76460"/>
                  <a:pt x="341274" y="170637"/>
                </a:cubicBezTo>
                <a:lnTo>
                  <a:pt x="341274" y="170637"/>
                </a:lnTo>
                <a:cubicBezTo>
                  <a:pt x="341274" y="264814"/>
                  <a:pt x="264814" y="341274"/>
                  <a:pt x="170637" y="341274"/>
                </a:cubicBezTo>
                <a:lnTo>
                  <a:pt x="170637" y="341274"/>
                </a:lnTo>
                <a:cubicBezTo>
                  <a:pt x="76460" y="341274"/>
                  <a:pt x="0" y="264814"/>
                  <a:pt x="0" y="170637"/>
                </a:cubicBezTo>
                <a:lnTo>
                  <a:pt x="0" y="170637"/>
                </a:lnTo>
                <a:cubicBezTo>
                  <a:pt x="0" y="76460"/>
                  <a:pt x="76460" y="0"/>
                  <a:pt x="170637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88697" y="3114122"/>
            <a:ext cx="409528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5E7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480" y="3182376"/>
            <a:ext cx="133096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Pernod Ricard USA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51295" y="3216504"/>
            <a:ext cx="153573" cy="136509"/>
          </a:xfrm>
          <a:custGeom>
            <a:avLst/>
            <a:gdLst/>
            <a:ahLst/>
            <a:cxnLst/>
            <a:rect l="l" t="t" r="r" b="b"/>
            <a:pathLst>
              <a:path w="153573" h="136509">
                <a:moveTo>
                  <a:pt x="82519" y="-5039"/>
                </a:moveTo>
                <a:cubicBezTo>
                  <a:pt x="81426" y="-7172"/>
                  <a:pt x="79213" y="-8532"/>
                  <a:pt x="76813" y="-8532"/>
                </a:cubicBezTo>
                <a:cubicBezTo>
                  <a:pt x="74414" y="-8532"/>
                  <a:pt x="72201" y="-7172"/>
                  <a:pt x="71108" y="-5039"/>
                </a:cubicBezTo>
                <a:lnTo>
                  <a:pt x="51484" y="33407"/>
                </a:lnTo>
                <a:lnTo>
                  <a:pt x="8852" y="40180"/>
                </a:lnTo>
                <a:cubicBezTo>
                  <a:pt x="6479" y="40553"/>
                  <a:pt x="4506" y="42233"/>
                  <a:pt x="3759" y="44526"/>
                </a:cubicBezTo>
                <a:cubicBezTo>
                  <a:pt x="3013" y="46818"/>
                  <a:pt x="3626" y="49325"/>
                  <a:pt x="5306" y="51031"/>
                </a:cubicBezTo>
                <a:lnTo>
                  <a:pt x="35807" y="81559"/>
                </a:lnTo>
                <a:lnTo>
                  <a:pt x="29088" y="124192"/>
                </a:lnTo>
                <a:cubicBezTo>
                  <a:pt x="28715" y="126565"/>
                  <a:pt x="29701" y="128964"/>
                  <a:pt x="31648" y="130377"/>
                </a:cubicBezTo>
                <a:cubicBezTo>
                  <a:pt x="33594" y="131790"/>
                  <a:pt x="36154" y="132004"/>
                  <a:pt x="38313" y="130910"/>
                </a:cubicBezTo>
                <a:lnTo>
                  <a:pt x="76813" y="111341"/>
                </a:lnTo>
                <a:lnTo>
                  <a:pt x="115286" y="130910"/>
                </a:lnTo>
                <a:cubicBezTo>
                  <a:pt x="117419" y="132004"/>
                  <a:pt x="120006" y="131790"/>
                  <a:pt x="121952" y="130377"/>
                </a:cubicBezTo>
                <a:cubicBezTo>
                  <a:pt x="123898" y="128964"/>
                  <a:pt x="124885" y="126591"/>
                  <a:pt x="124512" y="124192"/>
                </a:cubicBezTo>
                <a:lnTo>
                  <a:pt x="117766" y="81559"/>
                </a:lnTo>
                <a:lnTo>
                  <a:pt x="148267" y="51031"/>
                </a:lnTo>
                <a:cubicBezTo>
                  <a:pt x="149974" y="49325"/>
                  <a:pt x="150560" y="46818"/>
                  <a:pt x="149814" y="44526"/>
                </a:cubicBezTo>
                <a:cubicBezTo>
                  <a:pt x="149067" y="42233"/>
                  <a:pt x="147121" y="40553"/>
                  <a:pt x="144721" y="40180"/>
                </a:cubicBezTo>
                <a:lnTo>
                  <a:pt x="102115" y="33407"/>
                </a:lnTo>
                <a:lnTo>
                  <a:pt x="82519" y="-5039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22" name="Shape 20"/>
          <p:cNvSpPr/>
          <p:nvPr/>
        </p:nvSpPr>
        <p:spPr>
          <a:xfrm>
            <a:off x="520442" y="3660160"/>
            <a:ext cx="5298273" cy="546038"/>
          </a:xfrm>
          <a:custGeom>
            <a:avLst/>
            <a:gdLst/>
            <a:ahLst/>
            <a:cxnLst/>
            <a:rect l="l" t="t" r="r" b="b"/>
            <a:pathLst>
              <a:path w="5298273" h="546038">
                <a:moveTo>
                  <a:pt x="68255" y="0"/>
                </a:moveTo>
                <a:lnTo>
                  <a:pt x="5230018" y="0"/>
                </a:lnTo>
                <a:cubicBezTo>
                  <a:pt x="5267714" y="0"/>
                  <a:pt x="5298273" y="30559"/>
                  <a:pt x="5298273" y="68255"/>
                </a:cubicBezTo>
                <a:lnTo>
                  <a:pt x="5298273" y="477783"/>
                </a:lnTo>
                <a:cubicBezTo>
                  <a:pt x="5298273" y="515479"/>
                  <a:pt x="5267714" y="546038"/>
                  <a:pt x="5230018" y="546038"/>
                </a:cubicBezTo>
                <a:lnTo>
                  <a:pt x="68255" y="546038"/>
                </a:lnTo>
                <a:cubicBezTo>
                  <a:pt x="30584" y="546038"/>
                  <a:pt x="0" y="515454"/>
                  <a:pt x="0" y="477783"/>
                </a:cubicBezTo>
                <a:lnTo>
                  <a:pt x="0" y="68255"/>
                </a:lnTo>
                <a:cubicBezTo>
                  <a:pt x="0" y="30584"/>
                  <a:pt x="30584" y="0"/>
                  <a:pt x="6825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2824" y="3762542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>
                <a:moveTo>
                  <a:pt x="170637" y="0"/>
                </a:moveTo>
                <a:lnTo>
                  <a:pt x="170637" y="0"/>
                </a:lnTo>
                <a:cubicBezTo>
                  <a:pt x="264814" y="0"/>
                  <a:pt x="341274" y="76460"/>
                  <a:pt x="341274" y="170637"/>
                </a:cubicBezTo>
                <a:lnTo>
                  <a:pt x="341274" y="170637"/>
                </a:lnTo>
                <a:cubicBezTo>
                  <a:pt x="341274" y="264814"/>
                  <a:pt x="264814" y="341274"/>
                  <a:pt x="170637" y="341274"/>
                </a:cubicBezTo>
                <a:lnTo>
                  <a:pt x="170637" y="341274"/>
                </a:lnTo>
                <a:cubicBezTo>
                  <a:pt x="76460" y="341274"/>
                  <a:pt x="0" y="264814"/>
                  <a:pt x="0" y="170637"/>
                </a:cubicBezTo>
                <a:lnTo>
                  <a:pt x="0" y="170637"/>
                </a:lnTo>
                <a:cubicBezTo>
                  <a:pt x="0" y="76460"/>
                  <a:pt x="76460" y="0"/>
                  <a:pt x="170637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88697" y="3762542"/>
            <a:ext cx="409528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3A5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66480" y="3830796"/>
            <a:ext cx="1859941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Jim Beam Brands Company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51295" y="3864924"/>
            <a:ext cx="153573" cy="136509"/>
          </a:xfrm>
          <a:custGeom>
            <a:avLst/>
            <a:gdLst/>
            <a:ahLst/>
            <a:cxnLst/>
            <a:rect l="l" t="t" r="r" b="b"/>
            <a:pathLst>
              <a:path w="153573" h="136509">
                <a:moveTo>
                  <a:pt x="82519" y="-5039"/>
                </a:moveTo>
                <a:cubicBezTo>
                  <a:pt x="81426" y="-7172"/>
                  <a:pt x="79213" y="-8532"/>
                  <a:pt x="76813" y="-8532"/>
                </a:cubicBezTo>
                <a:cubicBezTo>
                  <a:pt x="74414" y="-8532"/>
                  <a:pt x="72201" y="-7172"/>
                  <a:pt x="71108" y="-5039"/>
                </a:cubicBezTo>
                <a:lnTo>
                  <a:pt x="51484" y="33407"/>
                </a:lnTo>
                <a:lnTo>
                  <a:pt x="8852" y="40180"/>
                </a:lnTo>
                <a:cubicBezTo>
                  <a:pt x="6479" y="40553"/>
                  <a:pt x="4506" y="42233"/>
                  <a:pt x="3759" y="44526"/>
                </a:cubicBezTo>
                <a:cubicBezTo>
                  <a:pt x="3013" y="46818"/>
                  <a:pt x="3626" y="49325"/>
                  <a:pt x="5306" y="51031"/>
                </a:cubicBezTo>
                <a:lnTo>
                  <a:pt x="35807" y="81559"/>
                </a:lnTo>
                <a:lnTo>
                  <a:pt x="29088" y="124192"/>
                </a:lnTo>
                <a:cubicBezTo>
                  <a:pt x="28715" y="126565"/>
                  <a:pt x="29701" y="128964"/>
                  <a:pt x="31648" y="130377"/>
                </a:cubicBezTo>
                <a:cubicBezTo>
                  <a:pt x="33594" y="131790"/>
                  <a:pt x="36154" y="132004"/>
                  <a:pt x="38313" y="130910"/>
                </a:cubicBezTo>
                <a:lnTo>
                  <a:pt x="76813" y="111341"/>
                </a:lnTo>
                <a:lnTo>
                  <a:pt x="115286" y="130910"/>
                </a:lnTo>
                <a:cubicBezTo>
                  <a:pt x="117419" y="132004"/>
                  <a:pt x="120006" y="131790"/>
                  <a:pt x="121952" y="130377"/>
                </a:cubicBezTo>
                <a:cubicBezTo>
                  <a:pt x="123898" y="128964"/>
                  <a:pt x="124885" y="126591"/>
                  <a:pt x="124512" y="124192"/>
                </a:cubicBezTo>
                <a:lnTo>
                  <a:pt x="117766" y="81559"/>
                </a:lnTo>
                <a:lnTo>
                  <a:pt x="148267" y="51031"/>
                </a:lnTo>
                <a:cubicBezTo>
                  <a:pt x="149974" y="49325"/>
                  <a:pt x="150560" y="46818"/>
                  <a:pt x="149814" y="44526"/>
                </a:cubicBezTo>
                <a:cubicBezTo>
                  <a:pt x="149067" y="42233"/>
                  <a:pt x="147121" y="40553"/>
                  <a:pt x="144721" y="40180"/>
                </a:cubicBezTo>
                <a:lnTo>
                  <a:pt x="102115" y="33407"/>
                </a:lnTo>
                <a:lnTo>
                  <a:pt x="82519" y="-5039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27" name="Shape 25"/>
          <p:cNvSpPr/>
          <p:nvPr/>
        </p:nvSpPr>
        <p:spPr>
          <a:xfrm>
            <a:off x="345540" y="4560269"/>
            <a:ext cx="5648078" cy="2755784"/>
          </a:xfrm>
          <a:custGeom>
            <a:avLst/>
            <a:gdLst/>
            <a:ahLst/>
            <a:cxnLst/>
            <a:rect l="l" t="t" r="r" b="b"/>
            <a:pathLst>
              <a:path w="5648078" h="2755784">
                <a:moveTo>
                  <a:pt x="68261" y="0"/>
                </a:moveTo>
                <a:lnTo>
                  <a:pt x="5579818" y="0"/>
                </a:lnTo>
                <a:cubicBezTo>
                  <a:pt x="5617517" y="0"/>
                  <a:pt x="5648078" y="30561"/>
                  <a:pt x="5648078" y="68261"/>
                </a:cubicBezTo>
                <a:lnTo>
                  <a:pt x="5648078" y="2687524"/>
                </a:lnTo>
                <a:cubicBezTo>
                  <a:pt x="5648078" y="2725223"/>
                  <a:pt x="5617517" y="2755784"/>
                  <a:pt x="5579818" y="2755784"/>
                </a:cubicBezTo>
                <a:lnTo>
                  <a:pt x="68261" y="2755784"/>
                </a:lnTo>
                <a:cubicBezTo>
                  <a:pt x="30561" y="2755784"/>
                  <a:pt x="0" y="2725223"/>
                  <a:pt x="0" y="2687524"/>
                </a:cubicBezTo>
                <a:lnTo>
                  <a:pt x="0" y="68261"/>
                </a:lnTo>
                <a:cubicBezTo>
                  <a:pt x="0" y="30587"/>
                  <a:pt x="30587" y="0"/>
                  <a:pt x="68261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6038" y="4752235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12798" y="12798"/>
                </a:moveTo>
                <a:cubicBezTo>
                  <a:pt x="19877" y="12798"/>
                  <a:pt x="25596" y="18517"/>
                  <a:pt x="25596" y="25596"/>
                </a:cubicBezTo>
                <a:lnTo>
                  <a:pt x="25596" y="159972"/>
                </a:lnTo>
                <a:cubicBezTo>
                  <a:pt x="25596" y="163491"/>
                  <a:pt x="28475" y="166371"/>
                  <a:pt x="31994" y="166371"/>
                </a:cubicBezTo>
                <a:lnTo>
                  <a:pt x="191966" y="166371"/>
                </a:lnTo>
                <a:cubicBezTo>
                  <a:pt x="199045" y="166371"/>
                  <a:pt x="204764" y="172090"/>
                  <a:pt x="204764" y="179169"/>
                </a:cubicBezTo>
                <a:cubicBezTo>
                  <a:pt x="204764" y="186247"/>
                  <a:pt x="199045" y="191966"/>
                  <a:pt x="191966" y="191966"/>
                </a:cubicBezTo>
                <a:lnTo>
                  <a:pt x="31994" y="191966"/>
                </a:lnTo>
                <a:cubicBezTo>
                  <a:pt x="14317" y="191966"/>
                  <a:pt x="0" y="177649"/>
                  <a:pt x="0" y="159972"/>
                </a:cubicBezTo>
                <a:lnTo>
                  <a:pt x="0" y="25596"/>
                </a:lnTo>
                <a:cubicBezTo>
                  <a:pt x="0" y="18517"/>
                  <a:pt x="5719" y="12798"/>
                  <a:pt x="12798" y="12798"/>
                </a:cubicBezTo>
                <a:close/>
                <a:moveTo>
                  <a:pt x="51191" y="38393"/>
                </a:moveTo>
                <a:cubicBezTo>
                  <a:pt x="51191" y="31315"/>
                  <a:pt x="56910" y="25596"/>
                  <a:pt x="63989" y="25596"/>
                </a:cubicBezTo>
                <a:lnTo>
                  <a:pt x="140775" y="25596"/>
                </a:lnTo>
                <a:cubicBezTo>
                  <a:pt x="147854" y="25596"/>
                  <a:pt x="153573" y="31315"/>
                  <a:pt x="153573" y="38393"/>
                </a:cubicBezTo>
                <a:cubicBezTo>
                  <a:pt x="153573" y="45472"/>
                  <a:pt x="147854" y="51191"/>
                  <a:pt x="140775" y="51191"/>
                </a:cubicBezTo>
                <a:lnTo>
                  <a:pt x="63989" y="51191"/>
                </a:lnTo>
                <a:cubicBezTo>
                  <a:pt x="56910" y="51191"/>
                  <a:pt x="51191" y="45472"/>
                  <a:pt x="51191" y="38393"/>
                </a:cubicBezTo>
                <a:close/>
                <a:moveTo>
                  <a:pt x="63989" y="70388"/>
                </a:moveTo>
                <a:lnTo>
                  <a:pt x="115180" y="70388"/>
                </a:lnTo>
                <a:cubicBezTo>
                  <a:pt x="122259" y="70388"/>
                  <a:pt x="127978" y="76107"/>
                  <a:pt x="127978" y="83185"/>
                </a:cubicBezTo>
                <a:cubicBezTo>
                  <a:pt x="127978" y="90264"/>
                  <a:pt x="122259" y="95983"/>
                  <a:pt x="115180" y="95983"/>
                </a:cubicBezTo>
                <a:lnTo>
                  <a:pt x="63989" y="95983"/>
                </a:lnTo>
                <a:cubicBezTo>
                  <a:pt x="56910" y="95983"/>
                  <a:pt x="51191" y="90264"/>
                  <a:pt x="51191" y="83185"/>
                </a:cubicBezTo>
                <a:cubicBezTo>
                  <a:pt x="51191" y="76107"/>
                  <a:pt x="56910" y="70388"/>
                  <a:pt x="63989" y="70388"/>
                </a:cubicBezTo>
                <a:close/>
                <a:moveTo>
                  <a:pt x="63989" y="115180"/>
                </a:moveTo>
                <a:lnTo>
                  <a:pt x="166371" y="115180"/>
                </a:lnTo>
                <a:cubicBezTo>
                  <a:pt x="173450" y="115180"/>
                  <a:pt x="179169" y="120899"/>
                  <a:pt x="179169" y="127978"/>
                </a:cubicBezTo>
                <a:cubicBezTo>
                  <a:pt x="179169" y="135056"/>
                  <a:pt x="173450" y="140775"/>
                  <a:pt x="166371" y="140775"/>
                </a:cubicBezTo>
                <a:lnTo>
                  <a:pt x="63989" y="140775"/>
                </a:lnTo>
                <a:cubicBezTo>
                  <a:pt x="56910" y="140775"/>
                  <a:pt x="51191" y="135056"/>
                  <a:pt x="51191" y="127978"/>
                </a:cubicBezTo>
                <a:cubicBezTo>
                  <a:pt x="51191" y="120899"/>
                  <a:pt x="56910" y="115180"/>
                  <a:pt x="63989" y="11518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9" name="Text 27"/>
          <p:cNvSpPr/>
          <p:nvPr/>
        </p:nvSpPr>
        <p:spPr>
          <a:xfrm>
            <a:off x="878780" y="4735171"/>
            <a:ext cx="1714900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Model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0442" y="5110572"/>
            <a:ext cx="5298273" cy="1569859"/>
          </a:xfrm>
          <a:custGeom>
            <a:avLst/>
            <a:gdLst/>
            <a:ahLst/>
            <a:cxnLst/>
            <a:rect l="l" t="t" r="r" b="b"/>
            <a:pathLst>
              <a:path w="5298273" h="1569859">
                <a:moveTo>
                  <a:pt x="68257" y="0"/>
                </a:moveTo>
                <a:lnTo>
                  <a:pt x="5230015" y="0"/>
                </a:lnTo>
                <a:cubicBezTo>
                  <a:pt x="5267713" y="0"/>
                  <a:pt x="5298273" y="30560"/>
                  <a:pt x="5298273" y="68257"/>
                </a:cubicBezTo>
                <a:lnTo>
                  <a:pt x="5298273" y="1501601"/>
                </a:lnTo>
                <a:cubicBezTo>
                  <a:pt x="5298273" y="1539299"/>
                  <a:pt x="5267713" y="1569859"/>
                  <a:pt x="5230015" y="1569859"/>
                </a:cubicBezTo>
                <a:lnTo>
                  <a:pt x="68257" y="1569859"/>
                </a:lnTo>
                <a:cubicBezTo>
                  <a:pt x="30585" y="1569859"/>
                  <a:pt x="0" y="1539274"/>
                  <a:pt x="0" y="1501601"/>
                </a:cubicBezTo>
                <a:lnTo>
                  <a:pt x="0" y="68257"/>
                </a:lnTo>
                <a:cubicBezTo>
                  <a:pt x="0" y="30585"/>
                  <a:pt x="30585" y="0"/>
                  <a:pt x="6825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56952" y="5247082"/>
            <a:ext cx="5093509" cy="44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performers follow a </a:t>
            </a:r>
            <a:pPr>
              <a:lnSpc>
                <a:spcPct val="140000"/>
              </a:lnSpc>
            </a:pPr>
            <a:r>
              <a:rPr lang="en-US" sz="1075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high-volume, moderate-margin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commercial model, prioritizing: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2547" y="5827247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33" name="Text 31"/>
          <p:cNvSpPr/>
          <p:nvPr/>
        </p:nvSpPr>
        <p:spPr>
          <a:xfrm>
            <a:off x="895843" y="5793120"/>
            <a:ext cx="179168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and market penetration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2547" y="6100266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35" name="Text 33"/>
          <p:cNvSpPr/>
          <p:nvPr/>
        </p:nvSpPr>
        <p:spPr>
          <a:xfrm>
            <a:off x="895843" y="6066139"/>
            <a:ext cx="179168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 recognition and loyalty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2547" y="6373285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37" name="Text 35"/>
          <p:cNvSpPr/>
          <p:nvPr/>
        </p:nvSpPr>
        <p:spPr>
          <a:xfrm>
            <a:off x="895843" y="6339157"/>
            <a:ext cx="183434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consumer demand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03981" y="1164596"/>
            <a:ext cx="5648078" cy="5281209"/>
          </a:xfrm>
          <a:custGeom>
            <a:avLst/>
            <a:gdLst/>
            <a:ahLst/>
            <a:cxnLst/>
            <a:rect l="l" t="t" r="r" b="b"/>
            <a:pathLst>
              <a:path w="5648078" h="5281209">
                <a:moveTo>
                  <a:pt x="68233" y="0"/>
                </a:moveTo>
                <a:lnTo>
                  <a:pt x="5579845" y="0"/>
                </a:lnTo>
                <a:cubicBezTo>
                  <a:pt x="5617529" y="0"/>
                  <a:pt x="5648078" y="30549"/>
                  <a:pt x="5648078" y="68233"/>
                </a:cubicBezTo>
                <a:lnTo>
                  <a:pt x="5648078" y="5212976"/>
                </a:lnTo>
                <a:cubicBezTo>
                  <a:pt x="5648078" y="5250660"/>
                  <a:pt x="5617529" y="5281209"/>
                  <a:pt x="5579845" y="5281209"/>
                </a:cubicBezTo>
                <a:lnTo>
                  <a:pt x="68233" y="5281209"/>
                </a:lnTo>
                <a:cubicBezTo>
                  <a:pt x="30549" y="5281209"/>
                  <a:pt x="0" y="5250660"/>
                  <a:pt x="0" y="5212976"/>
                </a:cubicBezTo>
                <a:lnTo>
                  <a:pt x="0" y="68233"/>
                </a:lnTo>
                <a:cubicBezTo>
                  <a:pt x="0" y="30574"/>
                  <a:pt x="30574" y="0"/>
                  <a:pt x="68233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A">
                  <a:alpha val="20000"/>
                </a:srgbClr>
              </a:gs>
              <a:gs pos="100000">
                <a:srgbClr val="3A5F7A">
                  <a:alpha val="5000"/>
                </a:srgbClr>
              </a:gs>
            </a:gsLst>
            <a:lin ang="2700000" scaled="1"/>
          </a:gra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91682" y="1356563"/>
            <a:ext cx="230360" cy="204764"/>
          </a:xfrm>
          <a:custGeom>
            <a:avLst/>
            <a:gdLst/>
            <a:ahLst/>
            <a:cxnLst/>
            <a:rect l="l" t="t" r="r" b="b"/>
            <a:pathLst>
              <a:path w="230360" h="204764">
                <a:moveTo>
                  <a:pt x="125178" y="34874"/>
                </a:moveTo>
                <a:cubicBezTo>
                  <a:pt x="128857" y="31954"/>
                  <a:pt x="131177" y="27435"/>
                  <a:pt x="131177" y="22396"/>
                </a:cubicBezTo>
                <a:cubicBezTo>
                  <a:pt x="131177" y="13558"/>
                  <a:pt x="124018" y="6399"/>
                  <a:pt x="115180" y="6399"/>
                </a:cubicBezTo>
                <a:cubicBezTo>
                  <a:pt x="106341" y="6399"/>
                  <a:pt x="99183" y="13558"/>
                  <a:pt x="99183" y="22396"/>
                </a:cubicBezTo>
                <a:cubicBezTo>
                  <a:pt x="99183" y="27435"/>
                  <a:pt x="101542" y="31954"/>
                  <a:pt x="105182" y="34874"/>
                </a:cubicBezTo>
                <a:lnTo>
                  <a:pt x="77826" y="77906"/>
                </a:lnTo>
                <a:cubicBezTo>
                  <a:pt x="73827" y="84185"/>
                  <a:pt x="65309" y="85745"/>
                  <a:pt x="59350" y="81266"/>
                </a:cubicBezTo>
                <a:lnTo>
                  <a:pt x="35554" y="63469"/>
                </a:lnTo>
                <a:cubicBezTo>
                  <a:pt x="37353" y="60909"/>
                  <a:pt x="38393" y="57750"/>
                  <a:pt x="38393" y="54390"/>
                </a:cubicBezTo>
                <a:cubicBezTo>
                  <a:pt x="38393" y="45552"/>
                  <a:pt x="31235" y="38393"/>
                  <a:pt x="22396" y="38393"/>
                </a:cubicBezTo>
                <a:cubicBezTo>
                  <a:pt x="13558" y="38393"/>
                  <a:pt x="6399" y="45552"/>
                  <a:pt x="6399" y="54390"/>
                </a:cubicBezTo>
                <a:cubicBezTo>
                  <a:pt x="6399" y="63109"/>
                  <a:pt x="13398" y="70228"/>
                  <a:pt x="22076" y="70388"/>
                </a:cubicBezTo>
                <a:lnTo>
                  <a:pt x="35114" y="157372"/>
                </a:lnTo>
                <a:cubicBezTo>
                  <a:pt x="36994" y="169890"/>
                  <a:pt x="47752" y="179169"/>
                  <a:pt x="60429" y="179169"/>
                </a:cubicBezTo>
                <a:lnTo>
                  <a:pt x="169930" y="179169"/>
                </a:lnTo>
                <a:cubicBezTo>
                  <a:pt x="182608" y="179169"/>
                  <a:pt x="193366" y="169890"/>
                  <a:pt x="195246" y="157372"/>
                </a:cubicBezTo>
                <a:lnTo>
                  <a:pt x="208284" y="70388"/>
                </a:lnTo>
                <a:cubicBezTo>
                  <a:pt x="216962" y="70228"/>
                  <a:pt x="223961" y="63109"/>
                  <a:pt x="223961" y="54390"/>
                </a:cubicBezTo>
                <a:cubicBezTo>
                  <a:pt x="223961" y="45552"/>
                  <a:pt x="216802" y="38393"/>
                  <a:pt x="207964" y="38393"/>
                </a:cubicBezTo>
                <a:cubicBezTo>
                  <a:pt x="199125" y="38393"/>
                  <a:pt x="191966" y="45552"/>
                  <a:pt x="191966" y="54390"/>
                </a:cubicBezTo>
                <a:cubicBezTo>
                  <a:pt x="191966" y="57750"/>
                  <a:pt x="193006" y="60909"/>
                  <a:pt x="194806" y="63469"/>
                </a:cubicBezTo>
                <a:lnTo>
                  <a:pt x="171050" y="81306"/>
                </a:lnTo>
                <a:cubicBezTo>
                  <a:pt x="165091" y="85785"/>
                  <a:pt x="156573" y="84225"/>
                  <a:pt x="152573" y="77946"/>
                </a:cubicBezTo>
                <a:lnTo>
                  <a:pt x="125178" y="34874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40" name="Text 38"/>
          <p:cNvSpPr/>
          <p:nvPr/>
        </p:nvSpPr>
        <p:spPr>
          <a:xfrm>
            <a:off x="6737221" y="1339499"/>
            <a:ext cx="2039110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Top-Performing Brands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5948" y="1714900"/>
            <a:ext cx="5281209" cy="682547"/>
          </a:xfrm>
          <a:custGeom>
            <a:avLst/>
            <a:gdLst/>
            <a:ahLst/>
            <a:cxnLst/>
            <a:rect l="l" t="t" r="r" b="b"/>
            <a:pathLst>
              <a:path w="5281209" h="682547">
                <a:moveTo>
                  <a:pt x="34127" y="0"/>
                </a:moveTo>
                <a:lnTo>
                  <a:pt x="5212955" y="0"/>
                </a:lnTo>
                <a:cubicBezTo>
                  <a:pt x="5250651" y="0"/>
                  <a:pt x="5281209" y="30559"/>
                  <a:pt x="5281209" y="68255"/>
                </a:cubicBezTo>
                <a:lnTo>
                  <a:pt x="5281209" y="614293"/>
                </a:lnTo>
                <a:cubicBezTo>
                  <a:pt x="5281209" y="651989"/>
                  <a:pt x="5250651" y="682547"/>
                  <a:pt x="5212955" y="682547"/>
                </a:cubicBezTo>
                <a:lnTo>
                  <a:pt x="34127" y="682547"/>
                </a:lnTo>
                <a:cubicBezTo>
                  <a:pt x="15292" y="682547"/>
                  <a:pt x="0" y="667255"/>
                  <a:pt x="0" y="648420"/>
                </a:cubicBezTo>
                <a:lnTo>
                  <a:pt x="0" y="34127"/>
                </a:lnTo>
                <a:cubicBezTo>
                  <a:pt x="0" y="15292"/>
                  <a:pt x="15292" y="0"/>
                  <a:pt x="3412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95948" y="1714900"/>
            <a:ext cx="34127" cy="682547"/>
          </a:xfrm>
          <a:custGeom>
            <a:avLst/>
            <a:gdLst/>
            <a:ahLst/>
            <a:cxnLst/>
            <a:rect l="l" t="t" r="r" b="b"/>
            <a:pathLst>
              <a:path w="34127" h="682547">
                <a:moveTo>
                  <a:pt x="34127" y="0"/>
                </a:moveTo>
                <a:lnTo>
                  <a:pt x="34127" y="0"/>
                </a:lnTo>
                <a:lnTo>
                  <a:pt x="34127" y="682547"/>
                </a:lnTo>
                <a:lnTo>
                  <a:pt x="34127" y="682547"/>
                </a:lnTo>
                <a:cubicBezTo>
                  <a:pt x="15292" y="682547"/>
                  <a:pt x="0" y="667255"/>
                  <a:pt x="0" y="648420"/>
                </a:cubicBezTo>
                <a:lnTo>
                  <a:pt x="0" y="34127"/>
                </a:lnTo>
                <a:cubicBezTo>
                  <a:pt x="0" y="15292"/>
                  <a:pt x="15292" y="0"/>
                  <a:pt x="34127" y="0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43" name="Shape 41"/>
          <p:cNvSpPr/>
          <p:nvPr/>
        </p:nvSpPr>
        <p:spPr>
          <a:xfrm>
            <a:off x="6549521" y="1851409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68256" y="0"/>
                </a:moveTo>
                <a:lnTo>
                  <a:pt x="341272" y="0"/>
                </a:lnTo>
                <a:cubicBezTo>
                  <a:pt x="378944" y="0"/>
                  <a:pt x="409528" y="30585"/>
                  <a:pt x="409528" y="68256"/>
                </a:cubicBezTo>
                <a:lnTo>
                  <a:pt x="409528" y="341272"/>
                </a:lnTo>
                <a:cubicBezTo>
                  <a:pt x="409528" y="378944"/>
                  <a:pt x="378944" y="409528"/>
                  <a:pt x="341272" y="409528"/>
                </a:cubicBezTo>
                <a:lnTo>
                  <a:pt x="68256" y="409528"/>
                </a:lnTo>
                <a:cubicBezTo>
                  <a:pt x="30585" y="409528"/>
                  <a:pt x="0" y="378944"/>
                  <a:pt x="0" y="341272"/>
                </a:cubicBezTo>
                <a:lnTo>
                  <a:pt x="0" y="68256"/>
                </a:lnTo>
                <a:cubicBezTo>
                  <a:pt x="0" y="30585"/>
                  <a:pt x="30585" y="0"/>
                  <a:pt x="68256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700961" y="1970855"/>
            <a:ext cx="106648" cy="170637"/>
          </a:xfrm>
          <a:custGeom>
            <a:avLst/>
            <a:gdLst/>
            <a:ahLst/>
            <a:cxnLst/>
            <a:rect l="l" t="t" r="r" b="b"/>
            <a:pathLst>
              <a:path w="106648" h="170637">
                <a:moveTo>
                  <a:pt x="26662" y="-10665"/>
                </a:moveTo>
                <a:cubicBezTo>
                  <a:pt x="26662" y="-16564"/>
                  <a:pt x="31428" y="-21330"/>
                  <a:pt x="37327" y="-21330"/>
                </a:cubicBezTo>
                <a:lnTo>
                  <a:pt x="69321" y="-21330"/>
                </a:lnTo>
                <a:cubicBezTo>
                  <a:pt x="75220" y="-21330"/>
                  <a:pt x="79986" y="-16564"/>
                  <a:pt x="79986" y="-10665"/>
                </a:cubicBezTo>
                <a:cubicBezTo>
                  <a:pt x="79986" y="-6732"/>
                  <a:pt x="77853" y="-3266"/>
                  <a:pt x="74654" y="-1433"/>
                </a:cubicBezTo>
                <a:lnTo>
                  <a:pt x="74654" y="47092"/>
                </a:lnTo>
                <a:cubicBezTo>
                  <a:pt x="93484" y="55324"/>
                  <a:pt x="106648" y="74120"/>
                  <a:pt x="106648" y="95983"/>
                </a:cubicBezTo>
                <a:lnTo>
                  <a:pt x="106648" y="170637"/>
                </a:lnTo>
                <a:cubicBezTo>
                  <a:pt x="106648" y="182401"/>
                  <a:pt x="97083" y="191966"/>
                  <a:pt x="85318" y="191966"/>
                </a:cubicBezTo>
                <a:lnTo>
                  <a:pt x="21330" y="191966"/>
                </a:lnTo>
                <a:cubicBezTo>
                  <a:pt x="9565" y="191966"/>
                  <a:pt x="0" y="182401"/>
                  <a:pt x="0" y="170637"/>
                </a:cubicBezTo>
                <a:lnTo>
                  <a:pt x="0" y="95983"/>
                </a:lnTo>
                <a:cubicBezTo>
                  <a:pt x="0" y="74120"/>
                  <a:pt x="13164" y="55324"/>
                  <a:pt x="31994" y="47092"/>
                </a:cubicBezTo>
                <a:lnTo>
                  <a:pt x="31994" y="-1433"/>
                </a:lnTo>
                <a:cubicBezTo>
                  <a:pt x="28795" y="-3266"/>
                  <a:pt x="26662" y="-6732"/>
                  <a:pt x="26662" y="-10665"/>
                </a:cubicBezTo>
                <a:close/>
                <a:moveTo>
                  <a:pt x="31994" y="95983"/>
                </a:moveTo>
                <a:cubicBezTo>
                  <a:pt x="26095" y="95983"/>
                  <a:pt x="21330" y="100749"/>
                  <a:pt x="21330" y="106648"/>
                </a:cubicBezTo>
                <a:lnTo>
                  <a:pt x="21330" y="149307"/>
                </a:lnTo>
                <a:cubicBezTo>
                  <a:pt x="21330" y="155206"/>
                  <a:pt x="26095" y="159972"/>
                  <a:pt x="31994" y="159972"/>
                </a:cubicBezTo>
                <a:lnTo>
                  <a:pt x="74654" y="159972"/>
                </a:lnTo>
                <a:cubicBezTo>
                  <a:pt x="80553" y="159972"/>
                  <a:pt x="85318" y="155206"/>
                  <a:pt x="85318" y="149307"/>
                </a:cubicBezTo>
                <a:lnTo>
                  <a:pt x="85318" y="106648"/>
                </a:lnTo>
                <a:cubicBezTo>
                  <a:pt x="85318" y="100749"/>
                  <a:pt x="80553" y="95983"/>
                  <a:pt x="74654" y="95983"/>
                </a:cubicBezTo>
                <a:lnTo>
                  <a:pt x="31994" y="95983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45" name="Text 43"/>
          <p:cNvSpPr/>
          <p:nvPr/>
        </p:nvSpPr>
        <p:spPr>
          <a:xfrm>
            <a:off x="7095558" y="1851409"/>
            <a:ext cx="1552795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Jack Daniel's No.7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95558" y="2090301"/>
            <a:ext cx="1535731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American Whiskey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95948" y="2499829"/>
            <a:ext cx="5281209" cy="682547"/>
          </a:xfrm>
          <a:custGeom>
            <a:avLst/>
            <a:gdLst/>
            <a:ahLst/>
            <a:cxnLst/>
            <a:rect l="l" t="t" r="r" b="b"/>
            <a:pathLst>
              <a:path w="5281209" h="682547">
                <a:moveTo>
                  <a:pt x="34127" y="0"/>
                </a:moveTo>
                <a:lnTo>
                  <a:pt x="5212955" y="0"/>
                </a:lnTo>
                <a:cubicBezTo>
                  <a:pt x="5250651" y="0"/>
                  <a:pt x="5281209" y="30559"/>
                  <a:pt x="5281209" y="68255"/>
                </a:cubicBezTo>
                <a:lnTo>
                  <a:pt x="5281209" y="614293"/>
                </a:lnTo>
                <a:cubicBezTo>
                  <a:pt x="5281209" y="651989"/>
                  <a:pt x="5250651" y="682547"/>
                  <a:pt x="5212955" y="682547"/>
                </a:cubicBezTo>
                <a:lnTo>
                  <a:pt x="34127" y="682547"/>
                </a:lnTo>
                <a:cubicBezTo>
                  <a:pt x="15292" y="682547"/>
                  <a:pt x="0" y="667255"/>
                  <a:pt x="0" y="648420"/>
                </a:cubicBezTo>
                <a:lnTo>
                  <a:pt x="0" y="34127"/>
                </a:lnTo>
                <a:cubicBezTo>
                  <a:pt x="0" y="15292"/>
                  <a:pt x="15292" y="0"/>
                  <a:pt x="3412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395948" y="2499829"/>
            <a:ext cx="34127" cy="682547"/>
          </a:xfrm>
          <a:custGeom>
            <a:avLst/>
            <a:gdLst/>
            <a:ahLst/>
            <a:cxnLst/>
            <a:rect l="l" t="t" r="r" b="b"/>
            <a:pathLst>
              <a:path w="34127" h="682547">
                <a:moveTo>
                  <a:pt x="34127" y="0"/>
                </a:moveTo>
                <a:lnTo>
                  <a:pt x="34127" y="0"/>
                </a:lnTo>
                <a:lnTo>
                  <a:pt x="34127" y="682547"/>
                </a:lnTo>
                <a:lnTo>
                  <a:pt x="34127" y="682547"/>
                </a:lnTo>
                <a:cubicBezTo>
                  <a:pt x="15292" y="682547"/>
                  <a:pt x="0" y="667255"/>
                  <a:pt x="0" y="648420"/>
                </a:cubicBezTo>
                <a:lnTo>
                  <a:pt x="0" y="34127"/>
                </a:lnTo>
                <a:cubicBezTo>
                  <a:pt x="0" y="15292"/>
                  <a:pt x="15292" y="0"/>
                  <a:pt x="34127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49" name="Shape 47"/>
          <p:cNvSpPr/>
          <p:nvPr/>
        </p:nvSpPr>
        <p:spPr>
          <a:xfrm>
            <a:off x="6549521" y="2636339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68256" y="0"/>
                </a:moveTo>
                <a:lnTo>
                  <a:pt x="341272" y="0"/>
                </a:lnTo>
                <a:cubicBezTo>
                  <a:pt x="378944" y="0"/>
                  <a:pt x="409528" y="30585"/>
                  <a:pt x="409528" y="68256"/>
                </a:cubicBezTo>
                <a:lnTo>
                  <a:pt x="409528" y="341272"/>
                </a:lnTo>
                <a:cubicBezTo>
                  <a:pt x="409528" y="378944"/>
                  <a:pt x="378944" y="409528"/>
                  <a:pt x="341272" y="409528"/>
                </a:cubicBezTo>
                <a:lnTo>
                  <a:pt x="68256" y="409528"/>
                </a:lnTo>
                <a:cubicBezTo>
                  <a:pt x="30585" y="409528"/>
                  <a:pt x="0" y="378944"/>
                  <a:pt x="0" y="341272"/>
                </a:cubicBezTo>
                <a:lnTo>
                  <a:pt x="0" y="68256"/>
                </a:lnTo>
                <a:cubicBezTo>
                  <a:pt x="0" y="30585"/>
                  <a:pt x="30585" y="0"/>
                  <a:pt x="68256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700961" y="2755784"/>
            <a:ext cx="106648" cy="170637"/>
          </a:xfrm>
          <a:custGeom>
            <a:avLst/>
            <a:gdLst/>
            <a:ahLst/>
            <a:cxnLst/>
            <a:rect l="l" t="t" r="r" b="b"/>
            <a:pathLst>
              <a:path w="106648" h="170637">
                <a:moveTo>
                  <a:pt x="26662" y="-10665"/>
                </a:moveTo>
                <a:cubicBezTo>
                  <a:pt x="26662" y="-16564"/>
                  <a:pt x="31428" y="-21330"/>
                  <a:pt x="37327" y="-21330"/>
                </a:cubicBezTo>
                <a:lnTo>
                  <a:pt x="69321" y="-21330"/>
                </a:lnTo>
                <a:cubicBezTo>
                  <a:pt x="75220" y="-21330"/>
                  <a:pt x="79986" y="-16564"/>
                  <a:pt x="79986" y="-10665"/>
                </a:cubicBezTo>
                <a:cubicBezTo>
                  <a:pt x="79986" y="-6732"/>
                  <a:pt x="77853" y="-3266"/>
                  <a:pt x="74654" y="-1433"/>
                </a:cubicBezTo>
                <a:lnTo>
                  <a:pt x="74654" y="47092"/>
                </a:lnTo>
                <a:cubicBezTo>
                  <a:pt x="93484" y="55324"/>
                  <a:pt x="106648" y="74120"/>
                  <a:pt x="106648" y="95983"/>
                </a:cubicBezTo>
                <a:lnTo>
                  <a:pt x="106648" y="170637"/>
                </a:lnTo>
                <a:cubicBezTo>
                  <a:pt x="106648" y="182401"/>
                  <a:pt x="97083" y="191966"/>
                  <a:pt x="85318" y="191966"/>
                </a:cubicBezTo>
                <a:lnTo>
                  <a:pt x="21330" y="191966"/>
                </a:lnTo>
                <a:cubicBezTo>
                  <a:pt x="9565" y="191966"/>
                  <a:pt x="0" y="182401"/>
                  <a:pt x="0" y="170637"/>
                </a:cubicBezTo>
                <a:lnTo>
                  <a:pt x="0" y="95983"/>
                </a:lnTo>
                <a:cubicBezTo>
                  <a:pt x="0" y="74120"/>
                  <a:pt x="13164" y="55324"/>
                  <a:pt x="31994" y="47092"/>
                </a:cubicBezTo>
                <a:lnTo>
                  <a:pt x="31994" y="-1433"/>
                </a:lnTo>
                <a:cubicBezTo>
                  <a:pt x="28795" y="-3266"/>
                  <a:pt x="26662" y="-6732"/>
                  <a:pt x="26662" y="-10665"/>
                </a:cubicBezTo>
                <a:close/>
                <a:moveTo>
                  <a:pt x="31994" y="95983"/>
                </a:moveTo>
                <a:cubicBezTo>
                  <a:pt x="26095" y="95983"/>
                  <a:pt x="21330" y="100749"/>
                  <a:pt x="21330" y="106648"/>
                </a:cubicBezTo>
                <a:lnTo>
                  <a:pt x="21330" y="149307"/>
                </a:lnTo>
                <a:cubicBezTo>
                  <a:pt x="21330" y="155206"/>
                  <a:pt x="26095" y="159972"/>
                  <a:pt x="31994" y="159972"/>
                </a:cubicBezTo>
                <a:lnTo>
                  <a:pt x="74654" y="159972"/>
                </a:lnTo>
                <a:cubicBezTo>
                  <a:pt x="80553" y="159972"/>
                  <a:pt x="85318" y="155206"/>
                  <a:pt x="85318" y="149307"/>
                </a:cubicBezTo>
                <a:lnTo>
                  <a:pt x="85318" y="106648"/>
                </a:lnTo>
                <a:cubicBezTo>
                  <a:pt x="85318" y="100749"/>
                  <a:pt x="80553" y="95983"/>
                  <a:pt x="74654" y="95983"/>
                </a:cubicBezTo>
                <a:lnTo>
                  <a:pt x="31994" y="95983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51" name="Text 49"/>
          <p:cNvSpPr/>
          <p:nvPr/>
        </p:nvSpPr>
        <p:spPr>
          <a:xfrm>
            <a:off x="7095558" y="2636339"/>
            <a:ext cx="183434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Tito's Handmade Vodka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95558" y="2875230"/>
            <a:ext cx="1817282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Craft American Vodka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5948" y="3284759"/>
            <a:ext cx="5281209" cy="682547"/>
          </a:xfrm>
          <a:custGeom>
            <a:avLst/>
            <a:gdLst/>
            <a:ahLst/>
            <a:cxnLst/>
            <a:rect l="l" t="t" r="r" b="b"/>
            <a:pathLst>
              <a:path w="5281209" h="682547">
                <a:moveTo>
                  <a:pt x="34127" y="0"/>
                </a:moveTo>
                <a:lnTo>
                  <a:pt x="5212955" y="0"/>
                </a:lnTo>
                <a:cubicBezTo>
                  <a:pt x="5250651" y="0"/>
                  <a:pt x="5281209" y="30559"/>
                  <a:pt x="5281209" y="68255"/>
                </a:cubicBezTo>
                <a:lnTo>
                  <a:pt x="5281209" y="614293"/>
                </a:lnTo>
                <a:cubicBezTo>
                  <a:pt x="5281209" y="651989"/>
                  <a:pt x="5250651" y="682547"/>
                  <a:pt x="5212955" y="682547"/>
                </a:cubicBezTo>
                <a:lnTo>
                  <a:pt x="34127" y="682547"/>
                </a:lnTo>
                <a:cubicBezTo>
                  <a:pt x="15292" y="682547"/>
                  <a:pt x="0" y="667255"/>
                  <a:pt x="0" y="648420"/>
                </a:cubicBezTo>
                <a:lnTo>
                  <a:pt x="0" y="34127"/>
                </a:lnTo>
                <a:cubicBezTo>
                  <a:pt x="0" y="15292"/>
                  <a:pt x="15292" y="0"/>
                  <a:pt x="3412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95948" y="3284759"/>
            <a:ext cx="34127" cy="682547"/>
          </a:xfrm>
          <a:custGeom>
            <a:avLst/>
            <a:gdLst/>
            <a:ahLst/>
            <a:cxnLst/>
            <a:rect l="l" t="t" r="r" b="b"/>
            <a:pathLst>
              <a:path w="34127" h="682547">
                <a:moveTo>
                  <a:pt x="34127" y="0"/>
                </a:moveTo>
                <a:lnTo>
                  <a:pt x="34127" y="0"/>
                </a:lnTo>
                <a:lnTo>
                  <a:pt x="34127" y="682547"/>
                </a:lnTo>
                <a:lnTo>
                  <a:pt x="34127" y="682547"/>
                </a:lnTo>
                <a:cubicBezTo>
                  <a:pt x="15292" y="682547"/>
                  <a:pt x="0" y="667255"/>
                  <a:pt x="0" y="648420"/>
                </a:cubicBezTo>
                <a:lnTo>
                  <a:pt x="0" y="34127"/>
                </a:lnTo>
                <a:cubicBezTo>
                  <a:pt x="0" y="15292"/>
                  <a:pt x="15292" y="0"/>
                  <a:pt x="34127" y="0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55" name="Shape 53"/>
          <p:cNvSpPr/>
          <p:nvPr/>
        </p:nvSpPr>
        <p:spPr>
          <a:xfrm>
            <a:off x="6549521" y="3421268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68256" y="0"/>
                </a:moveTo>
                <a:lnTo>
                  <a:pt x="341272" y="0"/>
                </a:lnTo>
                <a:cubicBezTo>
                  <a:pt x="378944" y="0"/>
                  <a:pt x="409528" y="30585"/>
                  <a:pt x="409528" y="68256"/>
                </a:cubicBezTo>
                <a:lnTo>
                  <a:pt x="409528" y="341272"/>
                </a:lnTo>
                <a:cubicBezTo>
                  <a:pt x="409528" y="378944"/>
                  <a:pt x="378944" y="409528"/>
                  <a:pt x="341272" y="409528"/>
                </a:cubicBezTo>
                <a:lnTo>
                  <a:pt x="68256" y="409528"/>
                </a:lnTo>
                <a:cubicBezTo>
                  <a:pt x="30585" y="409528"/>
                  <a:pt x="0" y="378944"/>
                  <a:pt x="0" y="341272"/>
                </a:cubicBezTo>
                <a:lnTo>
                  <a:pt x="0" y="68256"/>
                </a:lnTo>
                <a:cubicBezTo>
                  <a:pt x="0" y="30585"/>
                  <a:pt x="30585" y="0"/>
                  <a:pt x="68256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700961" y="3540714"/>
            <a:ext cx="106648" cy="170637"/>
          </a:xfrm>
          <a:custGeom>
            <a:avLst/>
            <a:gdLst/>
            <a:ahLst/>
            <a:cxnLst/>
            <a:rect l="l" t="t" r="r" b="b"/>
            <a:pathLst>
              <a:path w="106648" h="170637">
                <a:moveTo>
                  <a:pt x="26662" y="-10665"/>
                </a:moveTo>
                <a:cubicBezTo>
                  <a:pt x="26662" y="-16564"/>
                  <a:pt x="31428" y="-21330"/>
                  <a:pt x="37327" y="-21330"/>
                </a:cubicBezTo>
                <a:lnTo>
                  <a:pt x="69321" y="-21330"/>
                </a:lnTo>
                <a:cubicBezTo>
                  <a:pt x="75220" y="-21330"/>
                  <a:pt x="79986" y="-16564"/>
                  <a:pt x="79986" y="-10665"/>
                </a:cubicBezTo>
                <a:cubicBezTo>
                  <a:pt x="79986" y="-6732"/>
                  <a:pt x="77853" y="-3266"/>
                  <a:pt x="74654" y="-1433"/>
                </a:cubicBezTo>
                <a:lnTo>
                  <a:pt x="74654" y="47092"/>
                </a:lnTo>
                <a:cubicBezTo>
                  <a:pt x="93484" y="55324"/>
                  <a:pt x="106648" y="74120"/>
                  <a:pt x="106648" y="95983"/>
                </a:cubicBezTo>
                <a:lnTo>
                  <a:pt x="106648" y="170637"/>
                </a:lnTo>
                <a:cubicBezTo>
                  <a:pt x="106648" y="182401"/>
                  <a:pt x="97083" y="191966"/>
                  <a:pt x="85318" y="191966"/>
                </a:cubicBezTo>
                <a:lnTo>
                  <a:pt x="21330" y="191966"/>
                </a:lnTo>
                <a:cubicBezTo>
                  <a:pt x="9565" y="191966"/>
                  <a:pt x="0" y="182401"/>
                  <a:pt x="0" y="170637"/>
                </a:cubicBezTo>
                <a:lnTo>
                  <a:pt x="0" y="95983"/>
                </a:lnTo>
                <a:cubicBezTo>
                  <a:pt x="0" y="74120"/>
                  <a:pt x="13164" y="55324"/>
                  <a:pt x="31994" y="47092"/>
                </a:cubicBezTo>
                <a:lnTo>
                  <a:pt x="31994" y="-1433"/>
                </a:lnTo>
                <a:cubicBezTo>
                  <a:pt x="28795" y="-3266"/>
                  <a:pt x="26662" y="-6732"/>
                  <a:pt x="26662" y="-10665"/>
                </a:cubicBezTo>
                <a:close/>
                <a:moveTo>
                  <a:pt x="31994" y="95983"/>
                </a:moveTo>
                <a:cubicBezTo>
                  <a:pt x="26095" y="95983"/>
                  <a:pt x="21330" y="100749"/>
                  <a:pt x="21330" y="106648"/>
                </a:cubicBezTo>
                <a:lnTo>
                  <a:pt x="21330" y="149307"/>
                </a:lnTo>
                <a:cubicBezTo>
                  <a:pt x="21330" y="155206"/>
                  <a:pt x="26095" y="159972"/>
                  <a:pt x="31994" y="159972"/>
                </a:cubicBezTo>
                <a:lnTo>
                  <a:pt x="74654" y="159972"/>
                </a:lnTo>
                <a:cubicBezTo>
                  <a:pt x="80553" y="159972"/>
                  <a:pt x="85318" y="155206"/>
                  <a:pt x="85318" y="149307"/>
                </a:cubicBezTo>
                <a:lnTo>
                  <a:pt x="85318" y="106648"/>
                </a:lnTo>
                <a:cubicBezTo>
                  <a:pt x="85318" y="100749"/>
                  <a:pt x="80553" y="95983"/>
                  <a:pt x="74654" y="95983"/>
                </a:cubicBezTo>
                <a:lnTo>
                  <a:pt x="31994" y="95983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57" name="Text 55"/>
          <p:cNvSpPr/>
          <p:nvPr/>
        </p:nvSpPr>
        <p:spPr>
          <a:xfrm>
            <a:off x="7095558" y="3421268"/>
            <a:ext cx="1450413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Grey Goose Vodka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095558" y="3660160"/>
            <a:ext cx="1433349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French Vodka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95948" y="4069688"/>
            <a:ext cx="5281209" cy="682547"/>
          </a:xfrm>
          <a:custGeom>
            <a:avLst/>
            <a:gdLst/>
            <a:ahLst/>
            <a:cxnLst/>
            <a:rect l="l" t="t" r="r" b="b"/>
            <a:pathLst>
              <a:path w="5281209" h="682547">
                <a:moveTo>
                  <a:pt x="34127" y="0"/>
                </a:moveTo>
                <a:lnTo>
                  <a:pt x="5212955" y="0"/>
                </a:lnTo>
                <a:cubicBezTo>
                  <a:pt x="5250651" y="0"/>
                  <a:pt x="5281209" y="30559"/>
                  <a:pt x="5281209" y="68255"/>
                </a:cubicBezTo>
                <a:lnTo>
                  <a:pt x="5281209" y="614293"/>
                </a:lnTo>
                <a:cubicBezTo>
                  <a:pt x="5281209" y="651989"/>
                  <a:pt x="5250651" y="682547"/>
                  <a:pt x="5212955" y="682547"/>
                </a:cubicBezTo>
                <a:lnTo>
                  <a:pt x="34127" y="682547"/>
                </a:lnTo>
                <a:cubicBezTo>
                  <a:pt x="15292" y="682547"/>
                  <a:pt x="0" y="667255"/>
                  <a:pt x="0" y="648420"/>
                </a:cubicBezTo>
                <a:lnTo>
                  <a:pt x="0" y="34127"/>
                </a:lnTo>
                <a:cubicBezTo>
                  <a:pt x="0" y="15292"/>
                  <a:pt x="15292" y="0"/>
                  <a:pt x="3412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95948" y="4069688"/>
            <a:ext cx="34127" cy="682547"/>
          </a:xfrm>
          <a:custGeom>
            <a:avLst/>
            <a:gdLst/>
            <a:ahLst/>
            <a:cxnLst/>
            <a:rect l="l" t="t" r="r" b="b"/>
            <a:pathLst>
              <a:path w="34127" h="682547">
                <a:moveTo>
                  <a:pt x="34127" y="0"/>
                </a:moveTo>
                <a:lnTo>
                  <a:pt x="34127" y="0"/>
                </a:lnTo>
                <a:lnTo>
                  <a:pt x="34127" y="682547"/>
                </a:lnTo>
                <a:lnTo>
                  <a:pt x="34127" y="682547"/>
                </a:lnTo>
                <a:cubicBezTo>
                  <a:pt x="15292" y="682547"/>
                  <a:pt x="0" y="667255"/>
                  <a:pt x="0" y="648420"/>
                </a:cubicBezTo>
                <a:lnTo>
                  <a:pt x="0" y="34127"/>
                </a:lnTo>
                <a:cubicBezTo>
                  <a:pt x="0" y="15292"/>
                  <a:pt x="15292" y="0"/>
                  <a:pt x="34127" y="0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61" name="Shape 59"/>
          <p:cNvSpPr/>
          <p:nvPr/>
        </p:nvSpPr>
        <p:spPr>
          <a:xfrm>
            <a:off x="6549521" y="4206197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68256" y="0"/>
                </a:moveTo>
                <a:lnTo>
                  <a:pt x="341272" y="0"/>
                </a:lnTo>
                <a:cubicBezTo>
                  <a:pt x="378944" y="0"/>
                  <a:pt x="409528" y="30585"/>
                  <a:pt x="409528" y="68256"/>
                </a:cubicBezTo>
                <a:lnTo>
                  <a:pt x="409528" y="341272"/>
                </a:lnTo>
                <a:cubicBezTo>
                  <a:pt x="409528" y="378944"/>
                  <a:pt x="378944" y="409528"/>
                  <a:pt x="341272" y="409528"/>
                </a:cubicBezTo>
                <a:lnTo>
                  <a:pt x="68256" y="409528"/>
                </a:lnTo>
                <a:cubicBezTo>
                  <a:pt x="30585" y="409528"/>
                  <a:pt x="0" y="378944"/>
                  <a:pt x="0" y="341272"/>
                </a:cubicBezTo>
                <a:lnTo>
                  <a:pt x="0" y="68256"/>
                </a:lnTo>
                <a:cubicBezTo>
                  <a:pt x="0" y="30585"/>
                  <a:pt x="30585" y="0"/>
                  <a:pt x="68256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700961" y="4325643"/>
            <a:ext cx="106648" cy="170637"/>
          </a:xfrm>
          <a:custGeom>
            <a:avLst/>
            <a:gdLst/>
            <a:ahLst/>
            <a:cxnLst/>
            <a:rect l="l" t="t" r="r" b="b"/>
            <a:pathLst>
              <a:path w="106648" h="170637">
                <a:moveTo>
                  <a:pt x="26662" y="-10665"/>
                </a:moveTo>
                <a:cubicBezTo>
                  <a:pt x="26662" y="-16564"/>
                  <a:pt x="31428" y="-21330"/>
                  <a:pt x="37327" y="-21330"/>
                </a:cubicBezTo>
                <a:lnTo>
                  <a:pt x="69321" y="-21330"/>
                </a:lnTo>
                <a:cubicBezTo>
                  <a:pt x="75220" y="-21330"/>
                  <a:pt x="79986" y="-16564"/>
                  <a:pt x="79986" y="-10665"/>
                </a:cubicBezTo>
                <a:cubicBezTo>
                  <a:pt x="79986" y="-6732"/>
                  <a:pt x="77853" y="-3266"/>
                  <a:pt x="74654" y="-1433"/>
                </a:cubicBezTo>
                <a:lnTo>
                  <a:pt x="74654" y="47092"/>
                </a:lnTo>
                <a:cubicBezTo>
                  <a:pt x="93484" y="55324"/>
                  <a:pt x="106648" y="74120"/>
                  <a:pt x="106648" y="95983"/>
                </a:cubicBezTo>
                <a:lnTo>
                  <a:pt x="106648" y="170637"/>
                </a:lnTo>
                <a:cubicBezTo>
                  <a:pt x="106648" y="182401"/>
                  <a:pt x="97083" y="191966"/>
                  <a:pt x="85318" y="191966"/>
                </a:cubicBezTo>
                <a:lnTo>
                  <a:pt x="21330" y="191966"/>
                </a:lnTo>
                <a:cubicBezTo>
                  <a:pt x="9565" y="191966"/>
                  <a:pt x="0" y="182401"/>
                  <a:pt x="0" y="170637"/>
                </a:cubicBezTo>
                <a:lnTo>
                  <a:pt x="0" y="95983"/>
                </a:lnTo>
                <a:cubicBezTo>
                  <a:pt x="0" y="74120"/>
                  <a:pt x="13164" y="55324"/>
                  <a:pt x="31994" y="47092"/>
                </a:cubicBezTo>
                <a:lnTo>
                  <a:pt x="31994" y="-1433"/>
                </a:lnTo>
                <a:cubicBezTo>
                  <a:pt x="28795" y="-3266"/>
                  <a:pt x="26662" y="-6732"/>
                  <a:pt x="26662" y="-10665"/>
                </a:cubicBezTo>
                <a:close/>
                <a:moveTo>
                  <a:pt x="31994" y="95983"/>
                </a:moveTo>
                <a:cubicBezTo>
                  <a:pt x="26095" y="95983"/>
                  <a:pt x="21330" y="100749"/>
                  <a:pt x="21330" y="106648"/>
                </a:cubicBezTo>
                <a:lnTo>
                  <a:pt x="21330" y="149307"/>
                </a:lnTo>
                <a:cubicBezTo>
                  <a:pt x="21330" y="155206"/>
                  <a:pt x="26095" y="159972"/>
                  <a:pt x="31994" y="159972"/>
                </a:cubicBezTo>
                <a:lnTo>
                  <a:pt x="74654" y="159972"/>
                </a:lnTo>
                <a:cubicBezTo>
                  <a:pt x="80553" y="159972"/>
                  <a:pt x="85318" y="155206"/>
                  <a:pt x="85318" y="149307"/>
                </a:cubicBezTo>
                <a:lnTo>
                  <a:pt x="85318" y="106648"/>
                </a:lnTo>
                <a:cubicBezTo>
                  <a:pt x="85318" y="100749"/>
                  <a:pt x="80553" y="95983"/>
                  <a:pt x="74654" y="95983"/>
                </a:cubicBezTo>
                <a:lnTo>
                  <a:pt x="31994" y="95983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63" name="Text 61"/>
          <p:cNvSpPr/>
          <p:nvPr/>
        </p:nvSpPr>
        <p:spPr>
          <a:xfrm>
            <a:off x="7095558" y="4206197"/>
            <a:ext cx="217561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Captain Morgan Spiced Rum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095558" y="4445089"/>
            <a:ext cx="2158556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Leading Spiced Rum Brand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203981" y="6623241"/>
            <a:ext cx="5648078" cy="691079"/>
          </a:xfrm>
          <a:custGeom>
            <a:avLst/>
            <a:gdLst/>
            <a:ahLst/>
            <a:cxnLst/>
            <a:rect l="l" t="t" r="r" b="b"/>
            <a:pathLst>
              <a:path w="5648078" h="691079">
                <a:moveTo>
                  <a:pt x="68258" y="0"/>
                </a:moveTo>
                <a:lnTo>
                  <a:pt x="5579820" y="0"/>
                </a:lnTo>
                <a:cubicBezTo>
                  <a:pt x="5617518" y="0"/>
                  <a:pt x="5648078" y="30560"/>
                  <a:pt x="5648078" y="68258"/>
                </a:cubicBezTo>
                <a:lnTo>
                  <a:pt x="5648078" y="622821"/>
                </a:lnTo>
                <a:cubicBezTo>
                  <a:pt x="5648078" y="660519"/>
                  <a:pt x="5617518" y="691079"/>
                  <a:pt x="5579820" y="691079"/>
                </a:cubicBezTo>
                <a:lnTo>
                  <a:pt x="68258" y="691079"/>
                </a:lnTo>
                <a:cubicBezTo>
                  <a:pt x="30560" y="691079"/>
                  <a:pt x="0" y="660519"/>
                  <a:pt x="0" y="622821"/>
                </a:cubicBezTo>
                <a:lnTo>
                  <a:pt x="0" y="68258"/>
                </a:lnTo>
                <a:cubicBezTo>
                  <a:pt x="0" y="30585"/>
                  <a:pt x="30585" y="0"/>
                  <a:pt x="68258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56A">
                  <a:alpha val="20000"/>
                </a:srgbClr>
              </a:gs>
              <a:gs pos="100000">
                <a:srgbClr val="3A5F7A">
                  <a:alpha val="20000"/>
                </a:srgbClr>
              </a:gs>
            </a:gsLst>
            <a:lin ang="0" scaled="1"/>
          </a:gradFill>
          <a:ln w="12700">
            <a:solidFill>
              <a:srgbClr val="C5A56A">
                <a:alpha val="3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61820" y="6798144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68255" y="136509"/>
                </a:moveTo>
                <a:cubicBezTo>
                  <a:pt x="105926" y="136509"/>
                  <a:pt x="136509" y="105926"/>
                  <a:pt x="136509" y="68255"/>
                </a:cubicBezTo>
                <a:cubicBezTo>
                  <a:pt x="136509" y="30584"/>
                  <a:pt x="105926" y="0"/>
                  <a:pt x="68255" y="0"/>
                </a:cubicBezTo>
                <a:cubicBezTo>
                  <a:pt x="30584" y="0"/>
                  <a:pt x="0" y="30584"/>
                  <a:pt x="0" y="68255"/>
                </a:cubicBezTo>
                <a:cubicBezTo>
                  <a:pt x="0" y="105926"/>
                  <a:pt x="30584" y="136509"/>
                  <a:pt x="68255" y="136509"/>
                </a:cubicBezTo>
                <a:close/>
                <a:moveTo>
                  <a:pt x="59723" y="42659"/>
                </a:moveTo>
                <a:cubicBezTo>
                  <a:pt x="59723" y="37950"/>
                  <a:pt x="63546" y="34127"/>
                  <a:pt x="68255" y="34127"/>
                </a:cubicBezTo>
                <a:cubicBezTo>
                  <a:pt x="72964" y="34127"/>
                  <a:pt x="76787" y="37950"/>
                  <a:pt x="76787" y="42659"/>
                </a:cubicBezTo>
                <a:cubicBezTo>
                  <a:pt x="76787" y="47368"/>
                  <a:pt x="72964" y="51191"/>
                  <a:pt x="68255" y="51191"/>
                </a:cubicBezTo>
                <a:cubicBezTo>
                  <a:pt x="63546" y="51191"/>
                  <a:pt x="59723" y="47368"/>
                  <a:pt x="59723" y="42659"/>
                </a:cubicBezTo>
                <a:close/>
                <a:moveTo>
                  <a:pt x="57590" y="59723"/>
                </a:moveTo>
                <a:lnTo>
                  <a:pt x="70388" y="59723"/>
                </a:lnTo>
                <a:cubicBezTo>
                  <a:pt x="73934" y="59723"/>
                  <a:pt x="76787" y="62576"/>
                  <a:pt x="76787" y="66122"/>
                </a:cubicBezTo>
                <a:lnTo>
                  <a:pt x="76787" y="89584"/>
                </a:lnTo>
                <a:lnTo>
                  <a:pt x="78920" y="89584"/>
                </a:lnTo>
                <a:cubicBezTo>
                  <a:pt x="82466" y="89584"/>
                  <a:pt x="85318" y="92437"/>
                  <a:pt x="85318" y="95983"/>
                </a:cubicBezTo>
                <a:cubicBezTo>
                  <a:pt x="85318" y="99529"/>
                  <a:pt x="82466" y="102382"/>
                  <a:pt x="78920" y="102382"/>
                </a:cubicBezTo>
                <a:lnTo>
                  <a:pt x="57590" y="102382"/>
                </a:lnTo>
                <a:cubicBezTo>
                  <a:pt x="54044" y="102382"/>
                  <a:pt x="51191" y="99529"/>
                  <a:pt x="51191" y="95983"/>
                </a:cubicBezTo>
                <a:cubicBezTo>
                  <a:pt x="51191" y="92437"/>
                  <a:pt x="54044" y="89584"/>
                  <a:pt x="57590" y="89584"/>
                </a:cubicBezTo>
                <a:lnTo>
                  <a:pt x="63989" y="89584"/>
                </a:lnTo>
                <a:lnTo>
                  <a:pt x="63989" y="72521"/>
                </a:lnTo>
                <a:lnTo>
                  <a:pt x="57590" y="72521"/>
                </a:lnTo>
                <a:cubicBezTo>
                  <a:pt x="54044" y="72521"/>
                  <a:pt x="51191" y="69668"/>
                  <a:pt x="51191" y="66122"/>
                </a:cubicBezTo>
                <a:cubicBezTo>
                  <a:pt x="51191" y="62576"/>
                  <a:pt x="54044" y="59723"/>
                  <a:pt x="57590" y="59723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67" name="Text 65"/>
          <p:cNvSpPr/>
          <p:nvPr/>
        </p:nvSpPr>
        <p:spPr>
          <a:xfrm>
            <a:off x="6561247" y="6764016"/>
            <a:ext cx="5218292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brands consistently outperform, reflecting strong consumer demand and established brand loyalty in the market.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754" y="377754"/>
            <a:ext cx="11502600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spc="104" kern="0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Procurement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754" y="642181"/>
            <a:ext cx="11663145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of Bulk Purchasing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2476" y="1289084"/>
            <a:ext cx="6761791" cy="5562423"/>
          </a:xfrm>
          <a:custGeom>
            <a:avLst/>
            <a:gdLst/>
            <a:ahLst/>
            <a:cxnLst/>
            <a:rect l="l" t="t" r="r" b="b"/>
            <a:pathLst>
              <a:path w="6761791" h="5562423">
                <a:moveTo>
                  <a:pt x="75538" y="0"/>
                </a:moveTo>
                <a:lnTo>
                  <a:pt x="6686253" y="0"/>
                </a:lnTo>
                <a:cubicBezTo>
                  <a:pt x="6727971" y="0"/>
                  <a:pt x="6761791" y="33819"/>
                  <a:pt x="6761791" y="75538"/>
                </a:cubicBezTo>
                <a:lnTo>
                  <a:pt x="6761791" y="5486885"/>
                </a:lnTo>
                <a:cubicBezTo>
                  <a:pt x="6761791" y="5528604"/>
                  <a:pt x="6727971" y="5562423"/>
                  <a:pt x="6686253" y="5562423"/>
                </a:cubicBezTo>
                <a:lnTo>
                  <a:pt x="75538" y="5562423"/>
                </a:lnTo>
                <a:cubicBezTo>
                  <a:pt x="33819" y="5562423"/>
                  <a:pt x="0" y="5528604"/>
                  <a:pt x="0" y="5486885"/>
                </a:cubicBezTo>
                <a:lnTo>
                  <a:pt x="0" y="75538"/>
                </a:lnTo>
                <a:cubicBezTo>
                  <a:pt x="0" y="33847"/>
                  <a:pt x="33847" y="0"/>
                  <a:pt x="7553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4" y="1482683"/>
            <a:ext cx="6469032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Cost vs. Order Size Relationship</a:t>
            </a:r>
            <a:endParaRPr lang="en-US" sz="1600" dirty="0"/>
          </a:p>
        </p:txBody>
      </p:sp>
      <p:pic>
        <p:nvPicPr>
          <p:cNvPr id="6" name="Image 0" descr="https://kimi-img.moonshot.cn/pub/slides/26-02-05-02:27:25-d61ov3eom6poiigvmo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4" y="1898212"/>
            <a:ext cx="6308486" cy="4759696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378297" y="1289084"/>
            <a:ext cx="4429162" cy="1633785"/>
          </a:xfrm>
          <a:custGeom>
            <a:avLst/>
            <a:gdLst/>
            <a:ahLst/>
            <a:cxnLst/>
            <a:rect l="l" t="t" r="r" b="b"/>
            <a:pathLst>
              <a:path w="4429162" h="1633785">
                <a:moveTo>
                  <a:pt x="75546" y="0"/>
                </a:moveTo>
                <a:lnTo>
                  <a:pt x="4353616" y="0"/>
                </a:lnTo>
                <a:cubicBezTo>
                  <a:pt x="4395339" y="0"/>
                  <a:pt x="4429162" y="33823"/>
                  <a:pt x="4429162" y="75546"/>
                </a:cubicBezTo>
                <a:lnTo>
                  <a:pt x="4429162" y="1558238"/>
                </a:lnTo>
                <a:cubicBezTo>
                  <a:pt x="4429162" y="1599961"/>
                  <a:pt x="4395339" y="1633785"/>
                  <a:pt x="4353616" y="1633785"/>
                </a:cubicBezTo>
                <a:lnTo>
                  <a:pt x="75546" y="1633785"/>
                </a:lnTo>
                <a:cubicBezTo>
                  <a:pt x="33823" y="1633785"/>
                  <a:pt x="0" y="1599961"/>
                  <a:pt x="0" y="1558238"/>
                </a:cubicBezTo>
                <a:lnTo>
                  <a:pt x="0" y="75546"/>
                </a:lnTo>
                <a:cubicBezTo>
                  <a:pt x="0" y="33851"/>
                  <a:pt x="33851" y="0"/>
                  <a:pt x="75546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56A">
                  <a:alpha val="20000"/>
                </a:srgbClr>
              </a:gs>
              <a:gs pos="100000">
                <a:srgbClr val="C5A56A">
                  <a:alpha val="5000"/>
                </a:srgbClr>
              </a:gs>
            </a:gsLst>
            <a:lin ang="2700000" scaled="1"/>
          </a:gradFill>
          <a:ln w="12700">
            <a:solidFill>
              <a:srgbClr val="C5A56A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71895" y="1482683"/>
            <a:ext cx="604406" cy="604406"/>
          </a:xfrm>
          <a:custGeom>
            <a:avLst/>
            <a:gdLst/>
            <a:ahLst/>
            <a:cxnLst/>
            <a:rect l="l" t="t" r="r" b="b"/>
            <a:pathLst>
              <a:path w="604406" h="604406">
                <a:moveTo>
                  <a:pt x="302203" y="0"/>
                </a:moveTo>
                <a:lnTo>
                  <a:pt x="302203" y="0"/>
                </a:lnTo>
                <a:cubicBezTo>
                  <a:pt x="468993" y="0"/>
                  <a:pt x="604406" y="135413"/>
                  <a:pt x="604406" y="302203"/>
                </a:cubicBezTo>
                <a:lnTo>
                  <a:pt x="604406" y="302203"/>
                </a:lnTo>
                <a:cubicBezTo>
                  <a:pt x="604406" y="468993"/>
                  <a:pt x="468993" y="604406"/>
                  <a:pt x="302203" y="604406"/>
                </a:cubicBezTo>
                <a:lnTo>
                  <a:pt x="302203" y="604406"/>
                </a:lnTo>
                <a:cubicBezTo>
                  <a:pt x="135413" y="604406"/>
                  <a:pt x="0" y="468993"/>
                  <a:pt x="0" y="302203"/>
                </a:cubicBezTo>
                <a:lnTo>
                  <a:pt x="0" y="302203"/>
                </a:lnTo>
                <a:cubicBezTo>
                  <a:pt x="0" y="135413"/>
                  <a:pt x="135413" y="0"/>
                  <a:pt x="302203" y="0"/>
                </a:cubicBezTo>
                <a:close/>
              </a:path>
            </a:pathLst>
          </a:custGeom>
          <a:solidFill>
            <a:srgbClr val="C5A56A">
              <a:alpha val="3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592701" y="1614897"/>
            <a:ext cx="708288" cy="339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31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27403" y="1558234"/>
            <a:ext cx="1917100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spc="26" kern="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27403" y="1747111"/>
            <a:ext cx="1935988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vs. Small Orders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71895" y="2238191"/>
            <a:ext cx="4117515" cy="491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inverse relationship between order size and unit purchase cost demonstrates significant economies of scale.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78297" y="3083414"/>
            <a:ext cx="4429162" cy="2615944"/>
          </a:xfrm>
          <a:custGeom>
            <a:avLst/>
            <a:gdLst/>
            <a:ahLst/>
            <a:cxnLst/>
            <a:rect l="l" t="t" r="r" b="b"/>
            <a:pathLst>
              <a:path w="4429162" h="2615944">
                <a:moveTo>
                  <a:pt x="75548" y="0"/>
                </a:moveTo>
                <a:lnTo>
                  <a:pt x="4353613" y="0"/>
                </a:lnTo>
                <a:cubicBezTo>
                  <a:pt x="4395338" y="0"/>
                  <a:pt x="4429162" y="33824"/>
                  <a:pt x="4429162" y="75548"/>
                </a:cubicBezTo>
                <a:lnTo>
                  <a:pt x="4429162" y="2540396"/>
                </a:lnTo>
                <a:cubicBezTo>
                  <a:pt x="4429162" y="2582120"/>
                  <a:pt x="4395338" y="2615944"/>
                  <a:pt x="4353613" y="2615944"/>
                </a:cubicBezTo>
                <a:lnTo>
                  <a:pt x="75548" y="2615944"/>
                </a:lnTo>
                <a:cubicBezTo>
                  <a:pt x="33824" y="2615944"/>
                  <a:pt x="0" y="2582120"/>
                  <a:pt x="0" y="2540396"/>
                </a:cubicBezTo>
                <a:lnTo>
                  <a:pt x="0" y="75548"/>
                </a:lnTo>
                <a:cubicBezTo>
                  <a:pt x="0" y="33852"/>
                  <a:pt x="33852" y="0"/>
                  <a:pt x="7554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71895" y="3277013"/>
            <a:ext cx="4126959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571895" y="3730318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151101" y="0"/>
                </a:moveTo>
                <a:lnTo>
                  <a:pt x="151101" y="0"/>
                </a:lnTo>
                <a:cubicBezTo>
                  <a:pt x="234497" y="0"/>
                  <a:pt x="302203" y="67706"/>
                  <a:pt x="302203" y="151101"/>
                </a:cubicBezTo>
                <a:lnTo>
                  <a:pt x="302203" y="151101"/>
                </a:lnTo>
                <a:cubicBezTo>
                  <a:pt x="302203" y="234497"/>
                  <a:pt x="234497" y="302203"/>
                  <a:pt x="151101" y="302203"/>
                </a:cubicBezTo>
                <a:lnTo>
                  <a:pt x="151101" y="302203"/>
                </a:lnTo>
                <a:cubicBezTo>
                  <a:pt x="67706" y="302203"/>
                  <a:pt x="0" y="234497"/>
                  <a:pt x="0" y="151101"/>
                </a:cubicBezTo>
                <a:lnTo>
                  <a:pt x="0" y="151101"/>
                </a:lnTo>
                <a:cubicBezTo>
                  <a:pt x="0" y="67706"/>
                  <a:pt x="67706" y="0"/>
                  <a:pt x="151101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666334" y="3805868"/>
            <a:ext cx="113326" cy="151101"/>
          </a:xfrm>
          <a:custGeom>
            <a:avLst/>
            <a:gdLst/>
            <a:ahLst/>
            <a:cxnLst/>
            <a:rect l="l" t="t" r="r" b="b"/>
            <a:pathLst>
              <a:path w="113326" h="151101">
                <a:moveTo>
                  <a:pt x="49993" y="148327"/>
                </a:moveTo>
                <a:cubicBezTo>
                  <a:pt x="53682" y="152016"/>
                  <a:pt x="59673" y="152016"/>
                  <a:pt x="63362" y="148327"/>
                </a:cubicBezTo>
                <a:lnTo>
                  <a:pt x="110581" y="101108"/>
                </a:lnTo>
                <a:cubicBezTo>
                  <a:pt x="114270" y="97419"/>
                  <a:pt x="114270" y="91428"/>
                  <a:pt x="110581" y="87739"/>
                </a:cubicBezTo>
                <a:cubicBezTo>
                  <a:pt x="106892" y="84050"/>
                  <a:pt x="100902" y="84050"/>
                  <a:pt x="97213" y="87739"/>
                </a:cubicBezTo>
                <a:lnTo>
                  <a:pt x="66107" y="118845"/>
                </a:lnTo>
                <a:lnTo>
                  <a:pt x="66107" y="9444"/>
                </a:lnTo>
                <a:cubicBezTo>
                  <a:pt x="66107" y="4220"/>
                  <a:pt x="61887" y="0"/>
                  <a:pt x="56663" y="0"/>
                </a:cubicBezTo>
                <a:cubicBezTo>
                  <a:pt x="51439" y="0"/>
                  <a:pt x="47219" y="4220"/>
                  <a:pt x="47219" y="9444"/>
                </a:cubicBezTo>
                <a:lnTo>
                  <a:pt x="47219" y="118845"/>
                </a:lnTo>
                <a:lnTo>
                  <a:pt x="16114" y="87739"/>
                </a:lnTo>
                <a:cubicBezTo>
                  <a:pt x="12425" y="84050"/>
                  <a:pt x="6434" y="84050"/>
                  <a:pt x="2745" y="87739"/>
                </a:cubicBezTo>
                <a:cubicBezTo>
                  <a:pt x="-944" y="91428"/>
                  <a:pt x="-944" y="97419"/>
                  <a:pt x="2745" y="101108"/>
                </a:cubicBezTo>
                <a:lnTo>
                  <a:pt x="49964" y="148327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7" name="Text 14"/>
          <p:cNvSpPr/>
          <p:nvPr/>
        </p:nvSpPr>
        <p:spPr>
          <a:xfrm>
            <a:off x="7987424" y="3692542"/>
            <a:ext cx="3456446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Material Cost Efficiency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87424" y="3919194"/>
            <a:ext cx="3456446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Bulk purchasing dramatically reduces per-unit costs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71895" y="4296948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151101" y="0"/>
                </a:moveTo>
                <a:lnTo>
                  <a:pt x="151101" y="0"/>
                </a:lnTo>
                <a:cubicBezTo>
                  <a:pt x="234497" y="0"/>
                  <a:pt x="302203" y="67706"/>
                  <a:pt x="302203" y="151101"/>
                </a:cubicBezTo>
                <a:lnTo>
                  <a:pt x="302203" y="151101"/>
                </a:lnTo>
                <a:cubicBezTo>
                  <a:pt x="302203" y="234497"/>
                  <a:pt x="234497" y="302203"/>
                  <a:pt x="151101" y="302203"/>
                </a:cubicBezTo>
                <a:lnTo>
                  <a:pt x="151101" y="302203"/>
                </a:lnTo>
                <a:cubicBezTo>
                  <a:pt x="67706" y="302203"/>
                  <a:pt x="0" y="234497"/>
                  <a:pt x="0" y="151101"/>
                </a:cubicBezTo>
                <a:lnTo>
                  <a:pt x="0" y="151101"/>
                </a:lnTo>
                <a:cubicBezTo>
                  <a:pt x="0" y="67706"/>
                  <a:pt x="67706" y="0"/>
                  <a:pt x="151101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647446" y="4372499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18888" y="18888"/>
                </a:moveTo>
                <a:cubicBezTo>
                  <a:pt x="18888" y="13664"/>
                  <a:pt x="14667" y="9444"/>
                  <a:pt x="9444" y="9444"/>
                </a:cubicBezTo>
                <a:cubicBezTo>
                  <a:pt x="4220" y="9444"/>
                  <a:pt x="0" y="13664"/>
                  <a:pt x="0" y="18888"/>
                </a:cubicBezTo>
                <a:lnTo>
                  <a:pt x="0" y="118048"/>
                </a:lnTo>
                <a:cubicBezTo>
                  <a:pt x="0" y="131092"/>
                  <a:pt x="10565" y="141658"/>
                  <a:pt x="23610" y="141658"/>
                </a:cubicBezTo>
                <a:lnTo>
                  <a:pt x="141658" y="141658"/>
                </a:lnTo>
                <a:cubicBezTo>
                  <a:pt x="146881" y="141658"/>
                  <a:pt x="151101" y="137437"/>
                  <a:pt x="151101" y="132214"/>
                </a:cubicBezTo>
                <a:cubicBezTo>
                  <a:pt x="151101" y="126990"/>
                  <a:pt x="146881" y="122770"/>
                  <a:pt x="141658" y="122770"/>
                </a:cubicBezTo>
                <a:lnTo>
                  <a:pt x="23610" y="122770"/>
                </a:lnTo>
                <a:cubicBezTo>
                  <a:pt x="21013" y="122770"/>
                  <a:pt x="18888" y="120645"/>
                  <a:pt x="18888" y="118048"/>
                </a:cubicBezTo>
                <a:lnTo>
                  <a:pt x="18888" y="18888"/>
                </a:lnTo>
                <a:close/>
                <a:moveTo>
                  <a:pt x="138884" y="44445"/>
                </a:moveTo>
                <a:cubicBezTo>
                  <a:pt x="142573" y="40756"/>
                  <a:pt x="142573" y="34765"/>
                  <a:pt x="138884" y="31076"/>
                </a:cubicBezTo>
                <a:cubicBezTo>
                  <a:pt x="135195" y="27387"/>
                  <a:pt x="129204" y="27387"/>
                  <a:pt x="125515" y="31076"/>
                </a:cubicBezTo>
                <a:lnTo>
                  <a:pt x="94438" y="62182"/>
                </a:lnTo>
                <a:lnTo>
                  <a:pt x="77499" y="45271"/>
                </a:lnTo>
                <a:cubicBezTo>
                  <a:pt x="73810" y="41582"/>
                  <a:pt x="67819" y="41582"/>
                  <a:pt x="64130" y="45271"/>
                </a:cubicBezTo>
                <a:lnTo>
                  <a:pt x="35798" y="73603"/>
                </a:lnTo>
                <a:cubicBezTo>
                  <a:pt x="32109" y="77292"/>
                  <a:pt x="32109" y="83283"/>
                  <a:pt x="35798" y="86972"/>
                </a:cubicBezTo>
                <a:cubicBezTo>
                  <a:pt x="39487" y="90661"/>
                  <a:pt x="45478" y="90661"/>
                  <a:pt x="49167" y="86972"/>
                </a:cubicBezTo>
                <a:lnTo>
                  <a:pt x="70829" y="65310"/>
                </a:lnTo>
                <a:lnTo>
                  <a:pt x="87769" y="82250"/>
                </a:lnTo>
                <a:cubicBezTo>
                  <a:pt x="91458" y="85939"/>
                  <a:pt x="97449" y="85939"/>
                  <a:pt x="101138" y="82250"/>
                </a:cubicBezTo>
                <a:lnTo>
                  <a:pt x="138913" y="44475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1" name="Text 18"/>
          <p:cNvSpPr/>
          <p:nvPr/>
        </p:nvSpPr>
        <p:spPr>
          <a:xfrm>
            <a:off x="7987424" y="4259173"/>
            <a:ext cx="3701986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Margin Improvement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987424" y="4485825"/>
            <a:ext cx="3701986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volumes improve margins without price increases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571895" y="5090231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151101" y="0"/>
                </a:moveTo>
                <a:lnTo>
                  <a:pt x="151101" y="0"/>
                </a:lnTo>
                <a:cubicBezTo>
                  <a:pt x="234497" y="0"/>
                  <a:pt x="302203" y="67706"/>
                  <a:pt x="302203" y="151101"/>
                </a:cubicBezTo>
                <a:lnTo>
                  <a:pt x="302203" y="151101"/>
                </a:lnTo>
                <a:cubicBezTo>
                  <a:pt x="302203" y="234497"/>
                  <a:pt x="234497" y="302203"/>
                  <a:pt x="151101" y="302203"/>
                </a:cubicBezTo>
                <a:lnTo>
                  <a:pt x="151101" y="302203"/>
                </a:lnTo>
                <a:cubicBezTo>
                  <a:pt x="67706" y="302203"/>
                  <a:pt x="0" y="234497"/>
                  <a:pt x="0" y="151101"/>
                </a:cubicBezTo>
                <a:lnTo>
                  <a:pt x="0" y="151101"/>
                </a:lnTo>
                <a:cubicBezTo>
                  <a:pt x="0" y="67706"/>
                  <a:pt x="67706" y="0"/>
                  <a:pt x="151101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628558" y="5165782"/>
            <a:ext cx="188877" cy="151101"/>
          </a:xfrm>
          <a:custGeom>
            <a:avLst/>
            <a:gdLst/>
            <a:ahLst/>
            <a:cxnLst/>
            <a:rect l="l" t="t" r="r" b="b"/>
            <a:pathLst>
              <a:path w="188877" h="151101">
                <a:moveTo>
                  <a:pt x="113326" y="9444"/>
                </a:moveTo>
                <a:lnTo>
                  <a:pt x="151101" y="9444"/>
                </a:lnTo>
                <a:cubicBezTo>
                  <a:pt x="156325" y="9444"/>
                  <a:pt x="160545" y="13664"/>
                  <a:pt x="160545" y="18888"/>
                </a:cubicBezTo>
                <a:cubicBezTo>
                  <a:pt x="160545" y="24111"/>
                  <a:pt x="156325" y="28332"/>
                  <a:pt x="151101" y="28332"/>
                </a:cubicBezTo>
                <a:lnTo>
                  <a:pt x="117576" y="28332"/>
                </a:lnTo>
                <a:cubicBezTo>
                  <a:pt x="116041" y="35946"/>
                  <a:pt x="110818" y="42232"/>
                  <a:pt x="103882" y="45242"/>
                </a:cubicBezTo>
                <a:lnTo>
                  <a:pt x="103882" y="132214"/>
                </a:lnTo>
                <a:lnTo>
                  <a:pt x="151101" y="132214"/>
                </a:lnTo>
                <a:cubicBezTo>
                  <a:pt x="156325" y="132214"/>
                  <a:pt x="160545" y="136434"/>
                  <a:pt x="160545" y="141658"/>
                </a:cubicBezTo>
                <a:cubicBezTo>
                  <a:pt x="160545" y="146881"/>
                  <a:pt x="156325" y="151101"/>
                  <a:pt x="151101" y="151101"/>
                </a:cubicBezTo>
                <a:lnTo>
                  <a:pt x="37775" y="151101"/>
                </a:lnTo>
                <a:cubicBezTo>
                  <a:pt x="32552" y="151101"/>
                  <a:pt x="28332" y="146881"/>
                  <a:pt x="28332" y="141658"/>
                </a:cubicBezTo>
                <a:cubicBezTo>
                  <a:pt x="28332" y="136434"/>
                  <a:pt x="32552" y="132214"/>
                  <a:pt x="37775" y="132214"/>
                </a:cubicBezTo>
                <a:lnTo>
                  <a:pt x="84995" y="132214"/>
                </a:lnTo>
                <a:lnTo>
                  <a:pt x="84995" y="45242"/>
                </a:lnTo>
                <a:cubicBezTo>
                  <a:pt x="78059" y="42202"/>
                  <a:pt x="72836" y="35916"/>
                  <a:pt x="71301" y="28332"/>
                </a:cubicBezTo>
                <a:lnTo>
                  <a:pt x="37775" y="28332"/>
                </a:lnTo>
                <a:cubicBezTo>
                  <a:pt x="32552" y="28332"/>
                  <a:pt x="28332" y="24111"/>
                  <a:pt x="28332" y="18888"/>
                </a:cubicBezTo>
                <a:cubicBezTo>
                  <a:pt x="28332" y="13664"/>
                  <a:pt x="32552" y="9444"/>
                  <a:pt x="37775" y="9444"/>
                </a:cubicBezTo>
                <a:lnTo>
                  <a:pt x="75551" y="9444"/>
                </a:lnTo>
                <a:cubicBezTo>
                  <a:pt x="79859" y="3719"/>
                  <a:pt x="86706" y="0"/>
                  <a:pt x="94438" y="0"/>
                </a:cubicBezTo>
                <a:cubicBezTo>
                  <a:pt x="102171" y="0"/>
                  <a:pt x="109017" y="3719"/>
                  <a:pt x="113326" y="9444"/>
                </a:cubicBezTo>
                <a:close/>
                <a:moveTo>
                  <a:pt x="129735" y="94438"/>
                </a:moveTo>
                <a:lnTo>
                  <a:pt x="172468" y="94438"/>
                </a:lnTo>
                <a:lnTo>
                  <a:pt x="151101" y="57785"/>
                </a:lnTo>
                <a:lnTo>
                  <a:pt x="129735" y="94438"/>
                </a:lnTo>
                <a:close/>
                <a:moveTo>
                  <a:pt x="151101" y="122770"/>
                </a:moveTo>
                <a:cubicBezTo>
                  <a:pt x="132538" y="122770"/>
                  <a:pt x="117104" y="112736"/>
                  <a:pt x="113916" y="99485"/>
                </a:cubicBezTo>
                <a:cubicBezTo>
                  <a:pt x="113149" y="96239"/>
                  <a:pt x="114211" y="92904"/>
                  <a:pt x="115894" y="90012"/>
                </a:cubicBezTo>
                <a:lnTo>
                  <a:pt x="143989" y="41848"/>
                </a:lnTo>
                <a:cubicBezTo>
                  <a:pt x="145465" y="39310"/>
                  <a:pt x="148180" y="37775"/>
                  <a:pt x="151101" y="37775"/>
                </a:cubicBezTo>
                <a:cubicBezTo>
                  <a:pt x="154023" y="37775"/>
                  <a:pt x="156738" y="39340"/>
                  <a:pt x="158214" y="41848"/>
                </a:cubicBezTo>
                <a:lnTo>
                  <a:pt x="186309" y="90012"/>
                </a:lnTo>
                <a:cubicBezTo>
                  <a:pt x="187991" y="92904"/>
                  <a:pt x="189054" y="96239"/>
                  <a:pt x="188287" y="99485"/>
                </a:cubicBezTo>
                <a:cubicBezTo>
                  <a:pt x="185099" y="112706"/>
                  <a:pt x="169665" y="122770"/>
                  <a:pt x="151101" y="122770"/>
                </a:cubicBezTo>
                <a:close/>
                <a:moveTo>
                  <a:pt x="37421" y="57785"/>
                </a:moveTo>
                <a:lnTo>
                  <a:pt x="16055" y="94438"/>
                </a:lnTo>
                <a:lnTo>
                  <a:pt x="58817" y="94438"/>
                </a:lnTo>
                <a:lnTo>
                  <a:pt x="37421" y="57785"/>
                </a:lnTo>
                <a:close/>
                <a:moveTo>
                  <a:pt x="266" y="99485"/>
                </a:moveTo>
                <a:cubicBezTo>
                  <a:pt x="-502" y="96239"/>
                  <a:pt x="561" y="92904"/>
                  <a:pt x="2243" y="90012"/>
                </a:cubicBezTo>
                <a:lnTo>
                  <a:pt x="30338" y="41848"/>
                </a:lnTo>
                <a:cubicBezTo>
                  <a:pt x="31814" y="39310"/>
                  <a:pt x="34529" y="37775"/>
                  <a:pt x="37451" y="37775"/>
                </a:cubicBezTo>
                <a:cubicBezTo>
                  <a:pt x="40372" y="37775"/>
                  <a:pt x="43088" y="39340"/>
                  <a:pt x="44563" y="41848"/>
                </a:cubicBezTo>
                <a:lnTo>
                  <a:pt x="72659" y="90012"/>
                </a:lnTo>
                <a:cubicBezTo>
                  <a:pt x="74341" y="92904"/>
                  <a:pt x="75403" y="96239"/>
                  <a:pt x="74636" y="99485"/>
                </a:cubicBezTo>
                <a:cubicBezTo>
                  <a:pt x="71449" y="112706"/>
                  <a:pt x="56014" y="122770"/>
                  <a:pt x="37451" y="122770"/>
                </a:cubicBezTo>
                <a:cubicBezTo>
                  <a:pt x="18888" y="122770"/>
                  <a:pt x="3453" y="112736"/>
                  <a:pt x="266" y="99485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25" name="Text 22"/>
          <p:cNvSpPr/>
          <p:nvPr/>
        </p:nvSpPr>
        <p:spPr>
          <a:xfrm>
            <a:off x="7987424" y="5052455"/>
            <a:ext cx="3022029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Balance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987424" y="5279108"/>
            <a:ext cx="3022029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 balance cost savings with inventory risk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378297" y="5859904"/>
            <a:ext cx="4429162" cy="991603"/>
          </a:xfrm>
          <a:custGeom>
            <a:avLst/>
            <a:gdLst/>
            <a:ahLst/>
            <a:cxnLst/>
            <a:rect l="l" t="t" r="r" b="b"/>
            <a:pathLst>
              <a:path w="4429162" h="991603">
                <a:moveTo>
                  <a:pt x="75550" y="0"/>
                </a:moveTo>
                <a:lnTo>
                  <a:pt x="4353612" y="0"/>
                </a:lnTo>
                <a:cubicBezTo>
                  <a:pt x="4395309" y="0"/>
                  <a:pt x="4429162" y="33853"/>
                  <a:pt x="4429162" y="75550"/>
                </a:cubicBezTo>
                <a:lnTo>
                  <a:pt x="4429162" y="916053"/>
                </a:lnTo>
                <a:cubicBezTo>
                  <a:pt x="4429162" y="957778"/>
                  <a:pt x="4395337" y="991603"/>
                  <a:pt x="4353612" y="991603"/>
                </a:cubicBezTo>
                <a:lnTo>
                  <a:pt x="75550" y="991603"/>
                </a:lnTo>
                <a:cubicBezTo>
                  <a:pt x="33853" y="991603"/>
                  <a:pt x="0" y="957750"/>
                  <a:pt x="0" y="916053"/>
                </a:cubicBezTo>
                <a:lnTo>
                  <a:pt x="0" y="75550"/>
                </a:lnTo>
                <a:cubicBezTo>
                  <a:pt x="0" y="33853"/>
                  <a:pt x="33853" y="0"/>
                  <a:pt x="755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A">
                  <a:alpha val="20000"/>
                </a:srgbClr>
              </a:gs>
              <a:gs pos="100000">
                <a:srgbClr val="C5A56A">
                  <a:alpha val="20000"/>
                </a:srgbClr>
              </a:gs>
            </a:gsLst>
            <a:lin ang="0" scaled="1"/>
          </a:gradFill>
          <a:ln w="12700">
            <a:solidFill>
              <a:srgbClr val="C5A56A">
                <a:alpha val="30196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571895" y="6053503"/>
            <a:ext cx="113326" cy="151101"/>
          </a:xfrm>
          <a:custGeom>
            <a:avLst/>
            <a:gdLst/>
            <a:ahLst/>
            <a:cxnLst/>
            <a:rect l="l" t="t" r="r" b="b"/>
            <a:pathLst>
              <a:path w="113326" h="151101">
                <a:moveTo>
                  <a:pt x="86441" y="113326"/>
                </a:moveTo>
                <a:cubicBezTo>
                  <a:pt x="88595" y="106745"/>
                  <a:pt x="92904" y="100784"/>
                  <a:pt x="97773" y="95648"/>
                </a:cubicBezTo>
                <a:cubicBezTo>
                  <a:pt x="107424" y="85496"/>
                  <a:pt x="113326" y="71773"/>
                  <a:pt x="113326" y="56663"/>
                </a:cubicBezTo>
                <a:cubicBezTo>
                  <a:pt x="113326" y="25380"/>
                  <a:pt x="87946" y="0"/>
                  <a:pt x="56663" y="0"/>
                </a:cubicBezTo>
                <a:cubicBezTo>
                  <a:pt x="25380" y="0"/>
                  <a:pt x="0" y="25380"/>
                  <a:pt x="0" y="56663"/>
                </a:cubicBezTo>
                <a:cubicBezTo>
                  <a:pt x="0" y="71773"/>
                  <a:pt x="5902" y="85496"/>
                  <a:pt x="15553" y="95648"/>
                </a:cubicBezTo>
                <a:cubicBezTo>
                  <a:pt x="20422" y="100784"/>
                  <a:pt x="24761" y="106745"/>
                  <a:pt x="26885" y="113326"/>
                </a:cubicBezTo>
                <a:lnTo>
                  <a:pt x="86411" y="113326"/>
                </a:lnTo>
                <a:close/>
                <a:moveTo>
                  <a:pt x="84995" y="127492"/>
                </a:moveTo>
                <a:lnTo>
                  <a:pt x="28332" y="127492"/>
                </a:lnTo>
                <a:lnTo>
                  <a:pt x="28332" y="132214"/>
                </a:lnTo>
                <a:cubicBezTo>
                  <a:pt x="28332" y="145258"/>
                  <a:pt x="38897" y="155823"/>
                  <a:pt x="51941" y="155823"/>
                </a:cubicBezTo>
                <a:lnTo>
                  <a:pt x="61385" y="155823"/>
                </a:lnTo>
                <a:cubicBezTo>
                  <a:pt x="74429" y="155823"/>
                  <a:pt x="84995" y="145258"/>
                  <a:pt x="84995" y="132214"/>
                </a:cubicBezTo>
                <a:lnTo>
                  <a:pt x="84995" y="127492"/>
                </a:lnTo>
                <a:close/>
                <a:moveTo>
                  <a:pt x="54302" y="33053"/>
                </a:moveTo>
                <a:cubicBezTo>
                  <a:pt x="42556" y="33053"/>
                  <a:pt x="33053" y="42556"/>
                  <a:pt x="33053" y="54302"/>
                </a:cubicBezTo>
                <a:cubicBezTo>
                  <a:pt x="33053" y="58227"/>
                  <a:pt x="29896" y="61385"/>
                  <a:pt x="25971" y="61385"/>
                </a:cubicBezTo>
                <a:cubicBezTo>
                  <a:pt x="22045" y="61385"/>
                  <a:pt x="18888" y="58227"/>
                  <a:pt x="18888" y="54302"/>
                </a:cubicBezTo>
                <a:cubicBezTo>
                  <a:pt x="18888" y="34736"/>
                  <a:pt x="34736" y="18888"/>
                  <a:pt x="54302" y="18888"/>
                </a:cubicBezTo>
                <a:cubicBezTo>
                  <a:pt x="58227" y="18888"/>
                  <a:pt x="61385" y="22045"/>
                  <a:pt x="61385" y="25971"/>
                </a:cubicBezTo>
                <a:cubicBezTo>
                  <a:pt x="61385" y="29896"/>
                  <a:pt x="58227" y="33053"/>
                  <a:pt x="54302" y="33053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29" name="Text 26"/>
          <p:cNvSpPr/>
          <p:nvPr/>
        </p:nvSpPr>
        <p:spPr>
          <a:xfrm>
            <a:off x="7779177" y="6015727"/>
            <a:ext cx="3948009" cy="67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Recommendation:</a:t>
            </a:r>
            <a:pPr>
              <a:lnSpc>
                <a:spcPct val="130000"/>
              </a:lnSpc>
            </a:pPr>
            <a:r>
              <a:rPr lang="en-US" sz="119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Align procurement with demand forecasts to maximize bulk pricing while controlling inventory exposure.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" y="372844"/>
            <a:ext cx="11511560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spc="103" kern="0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Capital Efficiency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844" y="633835"/>
            <a:ext cx="11670018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Inventory Health &amp; Low-Performing Vendors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505" y="1272330"/>
            <a:ext cx="5601982" cy="1798972"/>
          </a:xfrm>
          <a:custGeom>
            <a:avLst/>
            <a:gdLst/>
            <a:ahLst/>
            <a:cxnLst/>
            <a:rect l="l" t="t" r="r" b="b"/>
            <a:pathLst>
              <a:path w="5601982" h="1798972">
                <a:moveTo>
                  <a:pt x="74567" y="0"/>
                </a:moveTo>
                <a:lnTo>
                  <a:pt x="5527414" y="0"/>
                </a:lnTo>
                <a:cubicBezTo>
                  <a:pt x="5568597" y="0"/>
                  <a:pt x="5601982" y="33385"/>
                  <a:pt x="5601982" y="74567"/>
                </a:cubicBezTo>
                <a:lnTo>
                  <a:pt x="5601982" y="1724405"/>
                </a:lnTo>
                <a:cubicBezTo>
                  <a:pt x="5601982" y="1765588"/>
                  <a:pt x="5568597" y="1798972"/>
                  <a:pt x="5527414" y="1798972"/>
                </a:cubicBezTo>
                <a:lnTo>
                  <a:pt x="74567" y="1798972"/>
                </a:lnTo>
                <a:cubicBezTo>
                  <a:pt x="33385" y="1798972"/>
                  <a:pt x="0" y="1765588"/>
                  <a:pt x="0" y="1724405"/>
                </a:cubicBezTo>
                <a:lnTo>
                  <a:pt x="0" y="74567"/>
                </a:lnTo>
                <a:cubicBezTo>
                  <a:pt x="0" y="33413"/>
                  <a:pt x="33413" y="0"/>
                  <a:pt x="74567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56A">
                  <a:alpha val="20000"/>
                </a:srgbClr>
              </a:gs>
              <a:gs pos="100000">
                <a:srgbClr val="C5A56A">
                  <a:alpha val="5000"/>
                </a:srgbClr>
              </a:gs>
            </a:gsLst>
            <a:lin ang="2700000" scaled="1"/>
          </a:gradFill>
          <a:ln w="12700">
            <a:solidFill>
              <a:srgbClr val="C5A56A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5872" y="1537982"/>
            <a:ext cx="1892183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spc="26" kern="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Unsold Inventory Capital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5872" y="1761688"/>
            <a:ext cx="2050642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3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$2.71M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07470" y="1500697"/>
            <a:ext cx="745688" cy="745688"/>
          </a:xfrm>
          <a:custGeom>
            <a:avLst/>
            <a:gdLst/>
            <a:ahLst/>
            <a:cxnLst/>
            <a:rect l="l" t="t" r="r" b="b"/>
            <a:pathLst>
              <a:path w="745688" h="745688">
                <a:moveTo>
                  <a:pt x="372844" y="0"/>
                </a:moveTo>
                <a:lnTo>
                  <a:pt x="372844" y="0"/>
                </a:lnTo>
                <a:cubicBezTo>
                  <a:pt x="578622" y="0"/>
                  <a:pt x="745688" y="167066"/>
                  <a:pt x="745688" y="372844"/>
                </a:cubicBezTo>
                <a:lnTo>
                  <a:pt x="745688" y="372844"/>
                </a:lnTo>
                <a:cubicBezTo>
                  <a:pt x="745688" y="578622"/>
                  <a:pt x="578622" y="745688"/>
                  <a:pt x="372844" y="745688"/>
                </a:cubicBezTo>
                <a:lnTo>
                  <a:pt x="372844" y="745688"/>
                </a:lnTo>
                <a:cubicBezTo>
                  <a:pt x="167066" y="745688"/>
                  <a:pt x="0" y="578622"/>
                  <a:pt x="0" y="372844"/>
                </a:cubicBezTo>
                <a:lnTo>
                  <a:pt x="0" y="372844"/>
                </a:lnTo>
                <a:cubicBezTo>
                  <a:pt x="0" y="167066"/>
                  <a:pt x="167066" y="0"/>
                  <a:pt x="372844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191562" y="1705761"/>
            <a:ext cx="377505" cy="335560"/>
          </a:xfrm>
          <a:custGeom>
            <a:avLst/>
            <a:gdLst/>
            <a:ahLst/>
            <a:cxnLst/>
            <a:rect l="l" t="t" r="r" b="b"/>
            <a:pathLst>
              <a:path w="377505" h="335560">
                <a:moveTo>
                  <a:pt x="0" y="93131"/>
                </a:moveTo>
                <a:lnTo>
                  <a:pt x="0" y="314587"/>
                </a:lnTo>
                <a:cubicBezTo>
                  <a:pt x="0" y="326188"/>
                  <a:pt x="9372" y="335560"/>
                  <a:pt x="20972" y="335560"/>
                </a:cubicBezTo>
                <a:cubicBezTo>
                  <a:pt x="32573" y="335560"/>
                  <a:pt x="41945" y="326188"/>
                  <a:pt x="41945" y="314587"/>
                </a:cubicBezTo>
                <a:lnTo>
                  <a:pt x="41945" y="157294"/>
                </a:lnTo>
                <a:cubicBezTo>
                  <a:pt x="41945" y="145693"/>
                  <a:pt x="51317" y="136321"/>
                  <a:pt x="62917" y="136321"/>
                </a:cubicBezTo>
                <a:lnTo>
                  <a:pt x="314587" y="136321"/>
                </a:lnTo>
                <a:cubicBezTo>
                  <a:pt x="326188" y="136321"/>
                  <a:pt x="335560" y="145693"/>
                  <a:pt x="335560" y="157294"/>
                </a:cubicBezTo>
                <a:lnTo>
                  <a:pt x="335560" y="314587"/>
                </a:lnTo>
                <a:cubicBezTo>
                  <a:pt x="335560" y="326188"/>
                  <a:pt x="344932" y="335560"/>
                  <a:pt x="356532" y="335560"/>
                </a:cubicBezTo>
                <a:cubicBezTo>
                  <a:pt x="368133" y="335560"/>
                  <a:pt x="377505" y="326188"/>
                  <a:pt x="377505" y="314587"/>
                </a:cubicBezTo>
                <a:lnTo>
                  <a:pt x="377505" y="93131"/>
                </a:lnTo>
                <a:cubicBezTo>
                  <a:pt x="377505" y="75108"/>
                  <a:pt x="365970" y="59051"/>
                  <a:pt x="348799" y="53349"/>
                </a:cubicBezTo>
                <a:lnTo>
                  <a:pt x="198714" y="3342"/>
                </a:lnTo>
                <a:cubicBezTo>
                  <a:pt x="192226" y="1180"/>
                  <a:pt x="185279" y="1180"/>
                  <a:pt x="178790" y="3342"/>
                </a:cubicBezTo>
                <a:lnTo>
                  <a:pt x="28706" y="53349"/>
                </a:lnTo>
                <a:cubicBezTo>
                  <a:pt x="11535" y="59051"/>
                  <a:pt x="0" y="75108"/>
                  <a:pt x="0" y="93131"/>
                </a:cubicBezTo>
                <a:close/>
                <a:moveTo>
                  <a:pt x="304101" y="167780"/>
                </a:moveTo>
                <a:lnTo>
                  <a:pt x="73404" y="167780"/>
                </a:lnTo>
                <a:lnTo>
                  <a:pt x="73404" y="209725"/>
                </a:lnTo>
                <a:lnTo>
                  <a:pt x="304101" y="209725"/>
                </a:lnTo>
                <a:lnTo>
                  <a:pt x="304101" y="167780"/>
                </a:lnTo>
                <a:close/>
                <a:moveTo>
                  <a:pt x="73404" y="272642"/>
                </a:moveTo>
                <a:lnTo>
                  <a:pt x="304101" y="272642"/>
                </a:lnTo>
                <a:lnTo>
                  <a:pt x="304101" y="230697"/>
                </a:lnTo>
                <a:lnTo>
                  <a:pt x="73404" y="230697"/>
                </a:lnTo>
                <a:lnTo>
                  <a:pt x="73404" y="272642"/>
                </a:lnTo>
                <a:close/>
                <a:moveTo>
                  <a:pt x="304101" y="293615"/>
                </a:moveTo>
                <a:lnTo>
                  <a:pt x="73404" y="293615"/>
                </a:lnTo>
                <a:lnTo>
                  <a:pt x="73404" y="335560"/>
                </a:lnTo>
                <a:lnTo>
                  <a:pt x="304101" y="335560"/>
                </a:lnTo>
                <a:lnTo>
                  <a:pt x="304101" y="293615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9" name="Shape 7"/>
          <p:cNvSpPr/>
          <p:nvPr/>
        </p:nvSpPr>
        <p:spPr>
          <a:xfrm>
            <a:off x="605872" y="2395523"/>
            <a:ext cx="5145248" cy="111853"/>
          </a:xfrm>
          <a:custGeom>
            <a:avLst/>
            <a:gdLst/>
            <a:ahLst/>
            <a:cxnLst/>
            <a:rect l="l" t="t" r="r" b="b"/>
            <a:pathLst>
              <a:path w="5145248" h="111853">
                <a:moveTo>
                  <a:pt x="55927" y="0"/>
                </a:moveTo>
                <a:lnTo>
                  <a:pt x="5089321" y="0"/>
                </a:lnTo>
                <a:cubicBezTo>
                  <a:pt x="5120209" y="0"/>
                  <a:pt x="5145248" y="25039"/>
                  <a:pt x="5145248" y="55927"/>
                </a:cubicBezTo>
                <a:lnTo>
                  <a:pt x="5145248" y="55927"/>
                </a:lnTo>
                <a:cubicBezTo>
                  <a:pt x="5145248" y="86814"/>
                  <a:pt x="5120209" y="111853"/>
                  <a:pt x="5089321" y="111853"/>
                </a:cubicBezTo>
                <a:lnTo>
                  <a:pt x="55927" y="111853"/>
                </a:lnTo>
                <a:cubicBezTo>
                  <a:pt x="25060" y="111853"/>
                  <a:pt x="0" y="86793"/>
                  <a:pt x="0" y="55927"/>
                </a:cubicBezTo>
                <a:lnTo>
                  <a:pt x="0" y="55927"/>
                </a:lnTo>
                <a:cubicBezTo>
                  <a:pt x="0" y="25060"/>
                  <a:pt x="25060" y="0"/>
                  <a:pt x="5592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5872" y="2395523"/>
            <a:ext cx="3346275" cy="111853"/>
          </a:xfrm>
          <a:custGeom>
            <a:avLst/>
            <a:gdLst/>
            <a:ahLst/>
            <a:cxnLst/>
            <a:rect l="l" t="t" r="r" b="b"/>
            <a:pathLst>
              <a:path w="3346275" h="111853">
                <a:moveTo>
                  <a:pt x="55927" y="0"/>
                </a:moveTo>
                <a:lnTo>
                  <a:pt x="3290349" y="0"/>
                </a:lnTo>
                <a:cubicBezTo>
                  <a:pt x="3321236" y="0"/>
                  <a:pt x="3346275" y="25039"/>
                  <a:pt x="3346275" y="55927"/>
                </a:cubicBezTo>
                <a:lnTo>
                  <a:pt x="3346275" y="55927"/>
                </a:lnTo>
                <a:cubicBezTo>
                  <a:pt x="3346275" y="86814"/>
                  <a:pt x="3321236" y="111853"/>
                  <a:pt x="3290349" y="111853"/>
                </a:cubicBezTo>
                <a:lnTo>
                  <a:pt x="55927" y="111853"/>
                </a:lnTo>
                <a:cubicBezTo>
                  <a:pt x="25060" y="111853"/>
                  <a:pt x="0" y="86793"/>
                  <a:pt x="0" y="55927"/>
                </a:cubicBezTo>
                <a:lnTo>
                  <a:pt x="0" y="55927"/>
                </a:lnTo>
                <a:cubicBezTo>
                  <a:pt x="0" y="25060"/>
                  <a:pt x="25060" y="0"/>
                  <a:pt x="55927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56A"/>
              </a:gs>
              <a:gs pos="100000">
                <a:srgbClr val="3A5F7A"/>
              </a:gs>
            </a:gsLst>
            <a:lin ang="0" scaled="1"/>
          </a:gradFill>
          <a:ln/>
        </p:spPr>
      </p:sp>
      <p:sp>
        <p:nvSpPr>
          <p:cNvPr id="11" name="Text 9"/>
          <p:cNvSpPr/>
          <p:nvPr/>
        </p:nvSpPr>
        <p:spPr>
          <a:xfrm>
            <a:off x="605872" y="2619229"/>
            <a:ext cx="5219817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Represents </a:t>
            </a:r>
            <a:pPr>
              <a:lnSpc>
                <a:spcPct val="130000"/>
              </a:lnSpc>
            </a:pPr>
            <a:r>
              <a:rPr lang="en-US" sz="1174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0.88%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total purchase value tied in slow-moving stock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7505" y="3267046"/>
            <a:ext cx="5601982" cy="3588624"/>
          </a:xfrm>
          <a:custGeom>
            <a:avLst/>
            <a:gdLst/>
            <a:ahLst/>
            <a:cxnLst/>
            <a:rect l="l" t="t" r="r" b="b"/>
            <a:pathLst>
              <a:path w="5601982" h="3588624">
                <a:moveTo>
                  <a:pt x="74572" y="0"/>
                </a:moveTo>
                <a:lnTo>
                  <a:pt x="5527410" y="0"/>
                </a:lnTo>
                <a:cubicBezTo>
                  <a:pt x="5568595" y="0"/>
                  <a:pt x="5601982" y="33387"/>
                  <a:pt x="5601982" y="74572"/>
                </a:cubicBezTo>
                <a:lnTo>
                  <a:pt x="5601982" y="3514052"/>
                </a:lnTo>
                <a:cubicBezTo>
                  <a:pt x="5601982" y="3555237"/>
                  <a:pt x="5568595" y="3588624"/>
                  <a:pt x="5527410" y="3588624"/>
                </a:cubicBezTo>
                <a:lnTo>
                  <a:pt x="74572" y="3588624"/>
                </a:lnTo>
                <a:cubicBezTo>
                  <a:pt x="33387" y="3588624"/>
                  <a:pt x="0" y="3555237"/>
                  <a:pt x="0" y="3514052"/>
                </a:cubicBezTo>
                <a:lnTo>
                  <a:pt x="0" y="74572"/>
                </a:lnTo>
                <a:cubicBezTo>
                  <a:pt x="0" y="33414"/>
                  <a:pt x="33414" y="0"/>
                  <a:pt x="74572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1890" y="3495413"/>
            <a:ext cx="186422" cy="186422"/>
          </a:xfrm>
          <a:custGeom>
            <a:avLst/>
            <a:gdLst/>
            <a:ahLst/>
            <a:cxnLst/>
            <a:rect l="l" t="t" r="r" b="b"/>
            <a:pathLst>
              <a:path w="186422" h="186422">
                <a:moveTo>
                  <a:pt x="93211" y="186422"/>
                </a:moveTo>
                <a:cubicBezTo>
                  <a:pt x="144656" y="186422"/>
                  <a:pt x="186422" y="144656"/>
                  <a:pt x="186422" y="93211"/>
                </a:cubicBezTo>
                <a:cubicBezTo>
                  <a:pt x="186422" y="41766"/>
                  <a:pt x="144656" y="0"/>
                  <a:pt x="93211" y="0"/>
                </a:cubicBezTo>
                <a:cubicBezTo>
                  <a:pt x="41766" y="0"/>
                  <a:pt x="0" y="41766"/>
                  <a:pt x="0" y="93211"/>
                </a:cubicBezTo>
                <a:cubicBezTo>
                  <a:pt x="0" y="144656"/>
                  <a:pt x="41766" y="186422"/>
                  <a:pt x="93211" y="186422"/>
                </a:cubicBezTo>
                <a:close/>
                <a:moveTo>
                  <a:pt x="93211" y="49518"/>
                </a:moveTo>
                <a:cubicBezTo>
                  <a:pt x="98054" y="49518"/>
                  <a:pt x="101950" y="53414"/>
                  <a:pt x="101950" y="58257"/>
                </a:cubicBezTo>
                <a:lnTo>
                  <a:pt x="101950" y="99037"/>
                </a:lnTo>
                <a:cubicBezTo>
                  <a:pt x="101950" y="103879"/>
                  <a:pt x="98054" y="107775"/>
                  <a:pt x="93211" y="107775"/>
                </a:cubicBezTo>
                <a:cubicBezTo>
                  <a:pt x="88368" y="107775"/>
                  <a:pt x="84472" y="103879"/>
                  <a:pt x="84472" y="99037"/>
                </a:cubicBezTo>
                <a:lnTo>
                  <a:pt x="84472" y="58257"/>
                </a:lnTo>
                <a:cubicBezTo>
                  <a:pt x="84472" y="53414"/>
                  <a:pt x="88368" y="49518"/>
                  <a:pt x="93211" y="49518"/>
                </a:cubicBezTo>
                <a:close/>
                <a:moveTo>
                  <a:pt x="83489" y="128165"/>
                </a:moveTo>
                <a:cubicBezTo>
                  <a:pt x="83268" y="124557"/>
                  <a:pt x="85068" y="121123"/>
                  <a:pt x="88161" y="119252"/>
                </a:cubicBezTo>
                <a:cubicBezTo>
                  <a:pt x="91255" y="117381"/>
                  <a:pt x="95131" y="117381"/>
                  <a:pt x="98224" y="119252"/>
                </a:cubicBezTo>
                <a:cubicBezTo>
                  <a:pt x="101318" y="121123"/>
                  <a:pt x="103117" y="124557"/>
                  <a:pt x="102896" y="128165"/>
                </a:cubicBezTo>
                <a:cubicBezTo>
                  <a:pt x="103117" y="131774"/>
                  <a:pt x="101318" y="135207"/>
                  <a:pt x="98224" y="137078"/>
                </a:cubicBezTo>
                <a:cubicBezTo>
                  <a:pt x="95131" y="138949"/>
                  <a:pt x="91255" y="138949"/>
                  <a:pt x="88161" y="137078"/>
                </a:cubicBezTo>
                <a:cubicBezTo>
                  <a:pt x="85068" y="135207"/>
                  <a:pt x="83268" y="131774"/>
                  <a:pt x="83489" y="128165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4" name="Text 12"/>
          <p:cNvSpPr/>
          <p:nvPr/>
        </p:nvSpPr>
        <p:spPr>
          <a:xfrm>
            <a:off x="801615" y="3458128"/>
            <a:ext cx="5080000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Implications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8587" y="3868257"/>
            <a:ext cx="5219817" cy="708404"/>
          </a:xfrm>
          <a:custGeom>
            <a:avLst/>
            <a:gdLst/>
            <a:ahLst/>
            <a:cxnLst/>
            <a:rect l="l" t="t" r="r" b="b"/>
            <a:pathLst>
              <a:path w="5219817" h="708404">
                <a:moveTo>
                  <a:pt x="74567" y="0"/>
                </a:moveTo>
                <a:lnTo>
                  <a:pt x="5145250" y="0"/>
                </a:lnTo>
                <a:cubicBezTo>
                  <a:pt x="5186432" y="0"/>
                  <a:pt x="5219817" y="33385"/>
                  <a:pt x="5219817" y="74567"/>
                </a:cubicBezTo>
                <a:lnTo>
                  <a:pt x="5219817" y="633837"/>
                </a:lnTo>
                <a:cubicBezTo>
                  <a:pt x="5219817" y="674992"/>
                  <a:pt x="5186404" y="708404"/>
                  <a:pt x="5145250" y="708404"/>
                </a:cubicBezTo>
                <a:lnTo>
                  <a:pt x="74567" y="708404"/>
                </a:lnTo>
                <a:cubicBezTo>
                  <a:pt x="33385" y="708404"/>
                  <a:pt x="0" y="675019"/>
                  <a:pt x="0" y="633837"/>
                </a:cubicBezTo>
                <a:lnTo>
                  <a:pt x="0" y="74567"/>
                </a:lnTo>
                <a:cubicBezTo>
                  <a:pt x="0" y="33412"/>
                  <a:pt x="33412" y="0"/>
                  <a:pt x="745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80440" y="3980110"/>
            <a:ext cx="372844" cy="372844"/>
          </a:xfrm>
          <a:custGeom>
            <a:avLst/>
            <a:gdLst/>
            <a:ahLst/>
            <a:cxnLst/>
            <a:rect l="l" t="t" r="r" b="b"/>
            <a:pathLst>
              <a:path w="372844" h="372844">
                <a:moveTo>
                  <a:pt x="74569" y="0"/>
                </a:moveTo>
                <a:lnTo>
                  <a:pt x="298275" y="0"/>
                </a:lnTo>
                <a:cubicBezTo>
                  <a:pt x="339431" y="0"/>
                  <a:pt x="372844" y="33413"/>
                  <a:pt x="372844" y="74569"/>
                </a:cubicBezTo>
                <a:lnTo>
                  <a:pt x="372844" y="298275"/>
                </a:lnTo>
                <a:cubicBezTo>
                  <a:pt x="372844" y="339431"/>
                  <a:pt x="339431" y="372844"/>
                  <a:pt x="298275" y="372844"/>
                </a:cubicBezTo>
                <a:lnTo>
                  <a:pt x="74569" y="372844"/>
                </a:lnTo>
                <a:cubicBezTo>
                  <a:pt x="33413" y="372844"/>
                  <a:pt x="0" y="339431"/>
                  <a:pt x="0" y="298275"/>
                </a:cubicBezTo>
                <a:lnTo>
                  <a:pt x="0" y="74569"/>
                </a:lnTo>
                <a:cubicBezTo>
                  <a:pt x="0" y="33413"/>
                  <a:pt x="33413" y="0"/>
                  <a:pt x="74569" y="0"/>
                </a:cubicBezTo>
                <a:close/>
              </a:path>
            </a:pathLst>
          </a:custGeom>
          <a:solidFill>
            <a:srgbClr val="C5A56A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16761" y="4082642"/>
            <a:ext cx="104862" cy="167780"/>
          </a:xfrm>
          <a:custGeom>
            <a:avLst/>
            <a:gdLst/>
            <a:ahLst/>
            <a:cxnLst/>
            <a:rect l="l" t="t" r="r" b="b"/>
            <a:pathLst>
              <a:path w="104862" h="167780">
                <a:moveTo>
                  <a:pt x="44567" y="7865"/>
                </a:moveTo>
                <a:cubicBezTo>
                  <a:pt x="44567" y="3506"/>
                  <a:pt x="48073" y="0"/>
                  <a:pt x="52431" y="0"/>
                </a:cubicBezTo>
                <a:cubicBezTo>
                  <a:pt x="56790" y="0"/>
                  <a:pt x="60296" y="3506"/>
                  <a:pt x="60296" y="7865"/>
                </a:cubicBezTo>
                <a:lnTo>
                  <a:pt x="60296" y="20972"/>
                </a:lnTo>
                <a:lnTo>
                  <a:pt x="78647" y="20972"/>
                </a:lnTo>
                <a:cubicBezTo>
                  <a:pt x="84447" y="20972"/>
                  <a:pt x="89133" y="25659"/>
                  <a:pt x="89133" y="31459"/>
                </a:cubicBezTo>
                <a:cubicBezTo>
                  <a:pt x="89133" y="37259"/>
                  <a:pt x="84447" y="41945"/>
                  <a:pt x="78647" y="41945"/>
                </a:cubicBezTo>
                <a:lnTo>
                  <a:pt x="40995" y="41945"/>
                </a:lnTo>
                <a:cubicBezTo>
                  <a:pt x="32835" y="41945"/>
                  <a:pt x="26216" y="48564"/>
                  <a:pt x="26216" y="56724"/>
                </a:cubicBezTo>
                <a:cubicBezTo>
                  <a:pt x="26216" y="64097"/>
                  <a:pt x="31623" y="70323"/>
                  <a:pt x="38897" y="71372"/>
                </a:cubicBezTo>
                <a:lnTo>
                  <a:pt x="68914" y="75665"/>
                </a:lnTo>
                <a:cubicBezTo>
                  <a:pt x="86544" y="78188"/>
                  <a:pt x="99619" y="93262"/>
                  <a:pt x="99619" y="111056"/>
                </a:cubicBezTo>
                <a:cubicBezTo>
                  <a:pt x="99619" y="130816"/>
                  <a:pt x="83595" y="146807"/>
                  <a:pt x="63868" y="146807"/>
                </a:cubicBezTo>
                <a:lnTo>
                  <a:pt x="60296" y="146807"/>
                </a:lnTo>
                <a:lnTo>
                  <a:pt x="60296" y="159915"/>
                </a:lnTo>
                <a:cubicBezTo>
                  <a:pt x="60296" y="164273"/>
                  <a:pt x="56790" y="167780"/>
                  <a:pt x="52431" y="167780"/>
                </a:cubicBezTo>
                <a:cubicBezTo>
                  <a:pt x="48073" y="167780"/>
                  <a:pt x="44567" y="164273"/>
                  <a:pt x="44567" y="159915"/>
                </a:cubicBezTo>
                <a:lnTo>
                  <a:pt x="44567" y="146807"/>
                </a:lnTo>
                <a:lnTo>
                  <a:pt x="20972" y="146807"/>
                </a:lnTo>
                <a:cubicBezTo>
                  <a:pt x="15172" y="146807"/>
                  <a:pt x="10486" y="142121"/>
                  <a:pt x="10486" y="136321"/>
                </a:cubicBezTo>
                <a:cubicBezTo>
                  <a:pt x="10486" y="130521"/>
                  <a:pt x="15172" y="125835"/>
                  <a:pt x="20972" y="125835"/>
                </a:cubicBezTo>
                <a:lnTo>
                  <a:pt x="63868" y="125835"/>
                </a:lnTo>
                <a:cubicBezTo>
                  <a:pt x="72027" y="125835"/>
                  <a:pt x="78647" y="119215"/>
                  <a:pt x="78647" y="111056"/>
                </a:cubicBezTo>
                <a:cubicBezTo>
                  <a:pt x="78647" y="103683"/>
                  <a:pt x="73240" y="97456"/>
                  <a:pt x="65965" y="96408"/>
                </a:cubicBezTo>
                <a:lnTo>
                  <a:pt x="35948" y="92115"/>
                </a:lnTo>
                <a:cubicBezTo>
                  <a:pt x="18318" y="89625"/>
                  <a:pt x="5243" y="74518"/>
                  <a:pt x="5243" y="56724"/>
                </a:cubicBezTo>
                <a:cubicBezTo>
                  <a:pt x="5243" y="36997"/>
                  <a:pt x="21267" y="20972"/>
                  <a:pt x="40995" y="20972"/>
                </a:cubicBezTo>
                <a:lnTo>
                  <a:pt x="44567" y="20972"/>
                </a:lnTo>
                <a:lnTo>
                  <a:pt x="44567" y="7865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8" name="Text 16"/>
          <p:cNvSpPr/>
          <p:nvPr/>
        </p:nvSpPr>
        <p:spPr>
          <a:xfrm>
            <a:off x="1165138" y="3980110"/>
            <a:ext cx="2992073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Storage Costs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5138" y="4241101"/>
            <a:ext cx="2992073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 warehousing and handling expenses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8587" y="4725798"/>
            <a:ext cx="5219817" cy="708404"/>
          </a:xfrm>
          <a:custGeom>
            <a:avLst/>
            <a:gdLst/>
            <a:ahLst/>
            <a:cxnLst/>
            <a:rect l="l" t="t" r="r" b="b"/>
            <a:pathLst>
              <a:path w="5219817" h="708404">
                <a:moveTo>
                  <a:pt x="74567" y="0"/>
                </a:moveTo>
                <a:lnTo>
                  <a:pt x="5145250" y="0"/>
                </a:lnTo>
                <a:cubicBezTo>
                  <a:pt x="5186432" y="0"/>
                  <a:pt x="5219817" y="33385"/>
                  <a:pt x="5219817" y="74567"/>
                </a:cubicBezTo>
                <a:lnTo>
                  <a:pt x="5219817" y="633837"/>
                </a:lnTo>
                <a:cubicBezTo>
                  <a:pt x="5219817" y="674992"/>
                  <a:pt x="5186404" y="708404"/>
                  <a:pt x="5145250" y="708404"/>
                </a:cubicBezTo>
                <a:lnTo>
                  <a:pt x="74567" y="708404"/>
                </a:lnTo>
                <a:cubicBezTo>
                  <a:pt x="33385" y="708404"/>
                  <a:pt x="0" y="675019"/>
                  <a:pt x="0" y="633837"/>
                </a:cubicBezTo>
                <a:lnTo>
                  <a:pt x="0" y="74567"/>
                </a:lnTo>
                <a:cubicBezTo>
                  <a:pt x="0" y="33412"/>
                  <a:pt x="33412" y="0"/>
                  <a:pt x="745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80440" y="4837651"/>
            <a:ext cx="372844" cy="372844"/>
          </a:xfrm>
          <a:custGeom>
            <a:avLst/>
            <a:gdLst/>
            <a:ahLst/>
            <a:cxnLst/>
            <a:rect l="l" t="t" r="r" b="b"/>
            <a:pathLst>
              <a:path w="372844" h="372844">
                <a:moveTo>
                  <a:pt x="74569" y="0"/>
                </a:moveTo>
                <a:lnTo>
                  <a:pt x="298275" y="0"/>
                </a:lnTo>
                <a:cubicBezTo>
                  <a:pt x="339431" y="0"/>
                  <a:pt x="372844" y="33413"/>
                  <a:pt x="372844" y="74569"/>
                </a:cubicBezTo>
                <a:lnTo>
                  <a:pt x="372844" y="298275"/>
                </a:lnTo>
                <a:cubicBezTo>
                  <a:pt x="372844" y="339431"/>
                  <a:pt x="339431" y="372844"/>
                  <a:pt x="298275" y="372844"/>
                </a:cubicBezTo>
                <a:lnTo>
                  <a:pt x="74569" y="372844"/>
                </a:lnTo>
                <a:cubicBezTo>
                  <a:pt x="33413" y="372844"/>
                  <a:pt x="0" y="339431"/>
                  <a:pt x="0" y="298275"/>
                </a:cubicBezTo>
                <a:lnTo>
                  <a:pt x="0" y="74569"/>
                </a:lnTo>
                <a:cubicBezTo>
                  <a:pt x="0" y="33413"/>
                  <a:pt x="33413" y="0"/>
                  <a:pt x="74569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85303" y="4940183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0" y="137501"/>
                </a:moveTo>
                <a:lnTo>
                  <a:pt x="0" y="35883"/>
                </a:lnTo>
                <a:cubicBezTo>
                  <a:pt x="0" y="28280"/>
                  <a:pt x="7897" y="23234"/>
                  <a:pt x="15172" y="25396"/>
                </a:cubicBezTo>
                <a:cubicBezTo>
                  <a:pt x="43911" y="33982"/>
                  <a:pt x="64228" y="27199"/>
                  <a:pt x="84676" y="20383"/>
                </a:cubicBezTo>
                <a:cubicBezTo>
                  <a:pt x="105813" y="13337"/>
                  <a:pt x="127080" y="6259"/>
                  <a:pt x="157851" y="16090"/>
                </a:cubicBezTo>
                <a:cubicBezTo>
                  <a:pt x="163913" y="18023"/>
                  <a:pt x="167780" y="23889"/>
                  <a:pt x="167780" y="30279"/>
                </a:cubicBezTo>
                <a:lnTo>
                  <a:pt x="167780" y="131897"/>
                </a:lnTo>
                <a:cubicBezTo>
                  <a:pt x="167780" y="139500"/>
                  <a:pt x="159882" y="144546"/>
                  <a:pt x="152640" y="142383"/>
                </a:cubicBezTo>
                <a:cubicBezTo>
                  <a:pt x="123901" y="133798"/>
                  <a:pt x="103552" y="140581"/>
                  <a:pt x="83136" y="147397"/>
                </a:cubicBezTo>
                <a:cubicBezTo>
                  <a:pt x="62000" y="154443"/>
                  <a:pt x="40732" y="161521"/>
                  <a:pt x="9962" y="151690"/>
                </a:cubicBezTo>
                <a:cubicBezTo>
                  <a:pt x="3900" y="149757"/>
                  <a:pt x="33" y="143891"/>
                  <a:pt x="33" y="137501"/>
                </a:cubicBezTo>
                <a:close/>
                <a:moveTo>
                  <a:pt x="110106" y="83890"/>
                </a:moveTo>
                <a:cubicBezTo>
                  <a:pt x="110106" y="66522"/>
                  <a:pt x="98374" y="52431"/>
                  <a:pt x="83890" y="52431"/>
                </a:cubicBezTo>
                <a:cubicBezTo>
                  <a:pt x="69406" y="52431"/>
                  <a:pt x="57674" y="66522"/>
                  <a:pt x="57674" y="83890"/>
                </a:cubicBezTo>
                <a:cubicBezTo>
                  <a:pt x="57674" y="101258"/>
                  <a:pt x="69406" y="115349"/>
                  <a:pt x="83890" y="115349"/>
                </a:cubicBezTo>
                <a:cubicBezTo>
                  <a:pt x="98374" y="115349"/>
                  <a:pt x="110106" y="101258"/>
                  <a:pt x="110106" y="83890"/>
                </a:cubicBezTo>
                <a:close/>
                <a:moveTo>
                  <a:pt x="39323" y="135535"/>
                </a:moveTo>
                <a:cubicBezTo>
                  <a:pt x="40765" y="135535"/>
                  <a:pt x="41912" y="134289"/>
                  <a:pt x="41683" y="132880"/>
                </a:cubicBezTo>
                <a:cubicBezTo>
                  <a:pt x="40175" y="123770"/>
                  <a:pt x="32835" y="116659"/>
                  <a:pt x="23594" y="115512"/>
                </a:cubicBezTo>
                <a:cubicBezTo>
                  <a:pt x="22152" y="115349"/>
                  <a:pt x="20972" y="116528"/>
                  <a:pt x="20972" y="117970"/>
                </a:cubicBezTo>
                <a:lnTo>
                  <a:pt x="20972" y="131045"/>
                </a:lnTo>
                <a:cubicBezTo>
                  <a:pt x="20972" y="132225"/>
                  <a:pt x="21759" y="133274"/>
                  <a:pt x="22939" y="133568"/>
                </a:cubicBezTo>
                <a:cubicBezTo>
                  <a:pt x="28804" y="134945"/>
                  <a:pt x="34179" y="135567"/>
                  <a:pt x="39323" y="135567"/>
                </a:cubicBezTo>
                <a:close/>
                <a:moveTo>
                  <a:pt x="143694" y="118789"/>
                </a:moveTo>
                <a:cubicBezTo>
                  <a:pt x="145333" y="119052"/>
                  <a:pt x="146807" y="117806"/>
                  <a:pt x="146807" y="116168"/>
                </a:cubicBezTo>
                <a:lnTo>
                  <a:pt x="146807" y="102208"/>
                </a:lnTo>
                <a:cubicBezTo>
                  <a:pt x="146807" y="100766"/>
                  <a:pt x="145628" y="99554"/>
                  <a:pt x="144186" y="99750"/>
                </a:cubicBezTo>
                <a:cubicBezTo>
                  <a:pt x="135928" y="100766"/>
                  <a:pt x="129145" y="106599"/>
                  <a:pt x="126752" y="114366"/>
                </a:cubicBezTo>
                <a:cubicBezTo>
                  <a:pt x="126294" y="115906"/>
                  <a:pt x="127506" y="117348"/>
                  <a:pt x="129112" y="117380"/>
                </a:cubicBezTo>
                <a:cubicBezTo>
                  <a:pt x="133765" y="117511"/>
                  <a:pt x="138615" y="117937"/>
                  <a:pt x="143661" y="118789"/>
                </a:cubicBezTo>
                <a:close/>
                <a:moveTo>
                  <a:pt x="146807" y="49810"/>
                </a:moveTo>
                <a:lnTo>
                  <a:pt x="146807" y="36735"/>
                </a:lnTo>
                <a:cubicBezTo>
                  <a:pt x="146807" y="35555"/>
                  <a:pt x="145988" y="34506"/>
                  <a:pt x="144841" y="34211"/>
                </a:cubicBezTo>
                <a:cubicBezTo>
                  <a:pt x="138975" y="32835"/>
                  <a:pt x="133601" y="32212"/>
                  <a:pt x="128456" y="32212"/>
                </a:cubicBezTo>
                <a:cubicBezTo>
                  <a:pt x="127015" y="32212"/>
                  <a:pt x="125868" y="33458"/>
                  <a:pt x="126097" y="34867"/>
                </a:cubicBezTo>
                <a:cubicBezTo>
                  <a:pt x="127604" y="43977"/>
                  <a:pt x="134945" y="51088"/>
                  <a:pt x="144186" y="52235"/>
                </a:cubicBezTo>
                <a:cubicBezTo>
                  <a:pt x="145628" y="52398"/>
                  <a:pt x="146807" y="51219"/>
                  <a:pt x="146807" y="49777"/>
                </a:cubicBezTo>
                <a:close/>
                <a:moveTo>
                  <a:pt x="41027" y="53382"/>
                </a:moveTo>
                <a:cubicBezTo>
                  <a:pt x="41486" y="51841"/>
                  <a:pt x="40274" y="50399"/>
                  <a:pt x="38668" y="50367"/>
                </a:cubicBezTo>
                <a:cubicBezTo>
                  <a:pt x="34015" y="50236"/>
                  <a:pt x="29165" y="49810"/>
                  <a:pt x="24118" y="48958"/>
                </a:cubicBezTo>
                <a:cubicBezTo>
                  <a:pt x="22480" y="48695"/>
                  <a:pt x="21005" y="49941"/>
                  <a:pt x="21005" y="51579"/>
                </a:cubicBezTo>
                <a:lnTo>
                  <a:pt x="20972" y="65539"/>
                </a:lnTo>
                <a:cubicBezTo>
                  <a:pt x="20972" y="66981"/>
                  <a:pt x="22152" y="68193"/>
                  <a:pt x="23594" y="67997"/>
                </a:cubicBezTo>
                <a:cubicBezTo>
                  <a:pt x="31852" y="66981"/>
                  <a:pt x="38635" y="61148"/>
                  <a:pt x="41027" y="53382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3" name="Text 21"/>
          <p:cNvSpPr/>
          <p:nvPr/>
        </p:nvSpPr>
        <p:spPr>
          <a:xfrm>
            <a:off x="1165138" y="4837651"/>
            <a:ext cx="3299670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Cash-Flow Efficiency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65138" y="5098642"/>
            <a:ext cx="3299670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capital trapped in non-performing assets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8587" y="5583339"/>
            <a:ext cx="5219817" cy="708404"/>
          </a:xfrm>
          <a:custGeom>
            <a:avLst/>
            <a:gdLst/>
            <a:ahLst/>
            <a:cxnLst/>
            <a:rect l="l" t="t" r="r" b="b"/>
            <a:pathLst>
              <a:path w="5219817" h="708404">
                <a:moveTo>
                  <a:pt x="74567" y="0"/>
                </a:moveTo>
                <a:lnTo>
                  <a:pt x="5145250" y="0"/>
                </a:lnTo>
                <a:cubicBezTo>
                  <a:pt x="5186432" y="0"/>
                  <a:pt x="5219817" y="33385"/>
                  <a:pt x="5219817" y="74567"/>
                </a:cubicBezTo>
                <a:lnTo>
                  <a:pt x="5219817" y="633837"/>
                </a:lnTo>
                <a:cubicBezTo>
                  <a:pt x="5219817" y="674992"/>
                  <a:pt x="5186404" y="708404"/>
                  <a:pt x="5145250" y="708404"/>
                </a:cubicBezTo>
                <a:lnTo>
                  <a:pt x="74567" y="708404"/>
                </a:lnTo>
                <a:cubicBezTo>
                  <a:pt x="33385" y="708404"/>
                  <a:pt x="0" y="675019"/>
                  <a:pt x="0" y="633837"/>
                </a:cubicBezTo>
                <a:lnTo>
                  <a:pt x="0" y="74567"/>
                </a:lnTo>
                <a:cubicBezTo>
                  <a:pt x="0" y="33412"/>
                  <a:pt x="33412" y="0"/>
                  <a:pt x="745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80440" y="5695193"/>
            <a:ext cx="372844" cy="372844"/>
          </a:xfrm>
          <a:custGeom>
            <a:avLst/>
            <a:gdLst/>
            <a:ahLst/>
            <a:cxnLst/>
            <a:rect l="l" t="t" r="r" b="b"/>
            <a:pathLst>
              <a:path w="372844" h="372844">
                <a:moveTo>
                  <a:pt x="74569" y="0"/>
                </a:moveTo>
                <a:lnTo>
                  <a:pt x="298275" y="0"/>
                </a:lnTo>
                <a:cubicBezTo>
                  <a:pt x="339431" y="0"/>
                  <a:pt x="372844" y="33413"/>
                  <a:pt x="372844" y="74569"/>
                </a:cubicBezTo>
                <a:lnTo>
                  <a:pt x="372844" y="298275"/>
                </a:lnTo>
                <a:cubicBezTo>
                  <a:pt x="372844" y="339431"/>
                  <a:pt x="339431" y="372844"/>
                  <a:pt x="298275" y="372844"/>
                </a:cubicBezTo>
                <a:lnTo>
                  <a:pt x="74569" y="372844"/>
                </a:lnTo>
                <a:cubicBezTo>
                  <a:pt x="33413" y="372844"/>
                  <a:pt x="0" y="339431"/>
                  <a:pt x="0" y="298275"/>
                </a:cubicBezTo>
                <a:lnTo>
                  <a:pt x="0" y="74569"/>
                </a:lnTo>
                <a:cubicBezTo>
                  <a:pt x="0" y="33413"/>
                  <a:pt x="33413" y="0"/>
                  <a:pt x="74569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85303" y="5797725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0"/>
                </a:moveTo>
                <a:cubicBezTo>
                  <a:pt x="130190" y="0"/>
                  <a:pt x="167780" y="37590"/>
                  <a:pt x="167780" y="83890"/>
                </a:cubicBezTo>
                <a:cubicBezTo>
                  <a:pt x="167780" y="130190"/>
                  <a:pt x="130190" y="167780"/>
                  <a:pt x="83890" y="167780"/>
                </a:cubicBezTo>
                <a:cubicBezTo>
                  <a:pt x="37590" y="167780"/>
                  <a:pt x="0" y="130190"/>
                  <a:pt x="0" y="83890"/>
                </a:cubicBezTo>
                <a:cubicBezTo>
                  <a:pt x="0" y="37590"/>
                  <a:pt x="37590" y="0"/>
                  <a:pt x="83890" y="0"/>
                </a:cubicBezTo>
                <a:close/>
                <a:moveTo>
                  <a:pt x="76025" y="39323"/>
                </a:moveTo>
                <a:lnTo>
                  <a:pt x="76025" y="83890"/>
                </a:lnTo>
                <a:cubicBezTo>
                  <a:pt x="76025" y="86511"/>
                  <a:pt x="77336" y="88969"/>
                  <a:pt x="79532" y="90444"/>
                </a:cubicBezTo>
                <a:lnTo>
                  <a:pt x="110990" y="111416"/>
                </a:lnTo>
                <a:cubicBezTo>
                  <a:pt x="114595" y="113841"/>
                  <a:pt x="119478" y="112858"/>
                  <a:pt x="121903" y="109221"/>
                </a:cubicBezTo>
                <a:cubicBezTo>
                  <a:pt x="124327" y="105583"/>
                  <a:pt x="123344" y="100733"/>
                  <a:pt x="119707" y="98308"/>
                </a:cubicBezTo>
                <a:lnTo>
                  <a:pt x="91755" y="79695"/>
                </a:lnTo>
                <a:lnTo>
                  <a:pt x="91755" y="39323"/>
                </a:lnTo>
                <a:cubicBezTo>
                  <a:pt x="91755" y="34965"/>
                  <a:pt x="88248" y="31459"/>
                  <a:pt x="83890" y="31459"/>
                </a:cubicBezTo>
                <a:cubicBezTo>
                  <a:pt x="79532" y="31459"/>
                  <a:pt x="76025" y="34965"/>
                  <a:pt x="76025" y="39323"/>
                </a:cubicBez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28" name="Text 26"/>
          <p:cNvSpPr/>
          <p:nvPr/>
        </p:nvSpPr>
        <p:spPr>
          <a:xfrm>
            <a:off x="1165138" y="5695193"/>
            <a:ext cx="2348917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Elevated Obsolescence Risk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65138" y="5956183"/>
            <a:ext cx="2348917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Potential for discount-driven losses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4553" y="1272330"/>
            <a:ext cx="5601982" cy="3402202"/>
          </a:xfrm>
          <a:custGeom>
            <a:avLst/>
            <a:gdLst/>
            <a:ahLst/>
            <a:cxnLst/>
            <a:rect l="l" t="t" r="r" b="b"/>
            <a:pathLst>
              <a:path w="5601982" h="3402202">
                <a:moveTo>
                  <a:pt x="74576" y="0"/>
                </a:moveTo>
                <a:lnTo>
                  <a:pt x="5527405" y="0"/>
                </a:lnTo>
                <a:cubicBezTo>
                  <a:pt x="5568593" y="0"/>
                  <a:pt x="5601982" y="33389"/>
                  <a:pt x="5601982" y="74576"/>
                </a:cubicBezTo>
                <a:lnTo>
                  <a:pt x="5601982" y="3327626"/>
                </a:lnTo>
                <a:cubicBezTo>
                  <a:pt x="5601982" y="3368813"/>
                  <a:pt x="5568593" y="3402202"/>
                  <a:pt x="5527405" y="3402202"/>
                </a:cubicBezTo>
                <a:lnTo>
                  <a:pt x="74576" y="3402202"/>
                </a:lnTo>
                <a:cubicBezTo>
                  <a:pt x="33389" y="3402202"/>
                  <a:pt x="0" y="3368813"/>
                  <a:pt x="0" y="3327626"/>
                </a:cubicBezTo>
                <a:lnTo>
                  <a:pt x="0" y="74576"/>
                </a:lnTo>
                <a:cubicBezTo>
                  <a:pt x="0" y="33417"/>
                  <a:pt x="33417" y="0"/>
                  <a:pt x="74576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5635" y="1463413"/>
            <a:ext cx="5313028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Inventory Turnover Analysis</a:t>
            </a:r>
            <a:endParaRPr lang="en-US" sz="1600" dirty="0"/>
          </a:p>
        </p:txBody>
      </p:sp>
      <p:pic>
        <p:nvPicPr>
          <p:cNvPr id="32" name="Image 0" descr="https://kimi-img.moonshot.cn/pub/slides/26-02-05-02:27:25-d61ov3b67tie36od07e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5635" y="1873541"/>
            <a:ext cx="5089321" cy="2609908"/>
          </a:xfrm>
          <a:prstGeom prst="roundRect">
            <a:avLst>
              <a:gd name="adj" fmla="val 0"/>
            </a:avLst>
          </a:prstGeom>
        </p:spPr>
      </p:pic>
      <p:sp>
        <p:nvSpPr>
          <p:cNvPr id="33" name="Shape 30"/>
          <p:cNvSpPr/>
          <p:nvPr/>
        </p:nvSpPr>
        <p:spPr>
          <a:xfrm>
            <a:off x="6214553" y="4870275"/>
            <a:ext cx="5601982" cy="1985394"/>
          </a:xfrm>
          <a:custGeom>
            <a:avLst/>
            <a:gdLst/>
            <a:ahLst/>
            <a:cxnLst/>
            <a:rect l="l" t="t" r="r" b="b"/>
            <a:pathLst>
              <a:path w="5601982" h="1985394">
                <a:moveTo>
                  <a:pt x="74571" y="0"/>
                </a:moveTo>
                <a:lnTo>
                  <a:pt x="5527410" y="0"/>
                </a:lnTo>
                <a:cubicBezTo>
                  <a:pt x="5568595" y="0"/>
                  <a:pt x="5601982" y="33387"/>
                  <a:pt x="5601982" y="74571"/>
                </a:cubicBezTo>
                <a:lnTo>
                  <a:pt x="5601982" y="1910823"/>
                </a:lnTo>
                <a:cubicBezTo>
                  <a:pt x="5601982" y="1952008"/>
                  <a:pt x="5568595" y="1985394"/>
                  <a:pt x="5527410" y="1985394"/>
                </a:cubicBezTo>
                <a:lnTo>
                  <a:pt x="74571" y="1985394"/>
                </a:lnTo>
                <a:cubicBezTo>
                  <a:pt x="33387" y="1985394"/>
                  <a:pt x="0" y="1952008"/>
                  <a:pt x="0" y="1910823"/>
                </a:cubicBezTo>
                <a:lnTo>
                  <a:pt x="0" y="74571"/>
                </a:lnTo>
                <a:cubicBezTo>
                  <a:pt x="0" y="33414"/>
                  <a:pt x="33414" y="0"/>
                  <a:pt x="74571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A">
                  <a:alpha val="20000"/>
                </a:srgbClr>
              </a:gs>
              <a:gs pos="100000">
                <a:srgbClr val="C5A56A">
                  <a:alpha val="20000"/>
                </a:srgbClr>
              </a:gs>
            </a:gsLst>
            <a:lin ang="0" scaled="1"/>
          </a:gradFill>
          <a:ln w="12700">
            <a:solidFill>
              <a:srgbClr val="C5A56A">
                <a:alpha val="3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49911" y="5107963"/>
            <a:ext cx="125835" cy="167780"/>
          </a:xfrm>
          <a:custGeom>
            <a:avLst/>
            <a:gdLst/>
            <a:ahLst/>
            <a:cxnLst/>
            <a:rect l="l" t="t" r="r" b="b"/>
            <a:pathLst>
              <a:path w="125835" h="167780">
                <a:moveTo>
                  <a:pt x="95982" y="125835"/>
                </a:moveTo>
                <a:cubicBezTo>
                  <a:pt x="98374" y="118527"/>
                  <a:pt x="103158" y="111908"/>
                  <a:pt x="108565" y="106206"/>
                </a:cubicBezTo>
                <a:cubicBezTo>
                  <a:pt x="119281" y="94933"/>
                  <a:pt x="125835" y="79695"/>
                  <a:pt x="125835" y="62917"/>
                </a:cubicBezTo>
                <a:cubicBezTo>
                  <a:pt x="125835" y="28182"/>
                  <a:pt x="97653" y="0"/>
                  <a:pt x="62917" y="0"/>
                </a:cubicBezTo>
                <a:cubicBezTo>
                  <a:pt x="28182" y="0"/>
                  <a:pt x="0" y="28182"/>
                  <a:pt x="0" y="62917"/>
                </a:cubicBezTo>
                <a:cubicBezTo>
                  <a:pt x="0" y="79695"/>
                  <a:pt x="6554" y="94933"/>
                  <a:pt x="17270" y="106206"/>
                </a:cubicBezTo>
                <a:cubicBezTo>
                  <a:pt x="22676" y="111908"/>
                  <a:pt x="27494" y="118527"/>
                  <a:pt x="29853" y="125835"/>
                </a:cubicBezTo>
                <a:lnTo>
                  <a:pt x="95949" y="125835"/>
                </a:lnTo>
                <a:close/>
                <a:moveTo>
                  <a:pt x="94376" y="141564"/>
                </a:moveTo>
                <a:lnTo>
                  <a:pt x="31459" y="141564"/>
                </a:lnTo>
                <a:lnTo>
                  <a:pt x="31459" y="146807"/>
                </a:lnTo>
                <a:cubicBezTo>
                  <a:pt x="31459" y="161291"/>
                  <a:pt x="43190" y="173023"/>
                  <a:pt x="57674" y="173023"/>
                </a:cubicBezTo>
                <a:lnTo>
                  <a:pt x="68161" y="173023"/>
                </a:lnTo>
                <a:cubicBezTo>
                  <a:pt x="82645" y="173023"/>
                  <a:pt x="94376" y="161291"/>
                  <a:pt x="94376" y="146807"/>
                </a:cubicBezTo>
                <a:lnTo>
                  <a:pt x="94376" y="141564"/>
                </a:lnTo>
                <a:close/>
                <a:moveTo>
                  <a:pt x="60296" y="36702"/>
                </a:moveTo>
                <a:cubicBezTo>
                  <a:pt x="47254" y="36702"/>
                  <a:pt x="36702" y="47254"/>
                  <a:pt x="36702" y="60296"/>
                </a:cubicBezTo>
                <a:cubicBezTo>
                  <a:pt x="36702" y="64654"/>
                  <a:pt x="33195" y="68161"/>
                  <a:pt x="28837" y="68161"/>
                </a:cubicBezTo>
                <a:cubicBezTo>
                  <a:pt x="24479" y="68161"/>
                  <a:pt x="20972" y="64654"/>
                  <a:pt x="20972" y="60296"/>
                </a:cubicBezTo>
                <a:cubicBezTo>
                  <a:pt x="20972" y="38570"/>
                  <a:pt x="38570" y="20972"/>
                  <a:pt x="60296" y="20972"/>
                </a:cubicBezTo>
                <a:cubicBezTo>
                  <a:pt x="64654" y="20972"/>
                  <a:pt x="68161" y="24479"/>
                  <a:pt x="68161" y="28837"/>
                </a:cubicBezTo>
                <a:cubicBezTo>
                  <a:pt x="68161" y="33195"/>
                  <a:pt x="64654" y="36702"/>
                  <a:pt x="60296" y="36702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35" name="Text 32"/>
          <p:cNvSpPr/>
          <p:nvPr/>
        </p:nvSpPr>
        <p:spPr>
          <a:xfrm>
            <a:off x="6620021" y="5061358"/>
            <a:ext cx="5089321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405635" y="5508771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111853" y="0"/>
                </a:moveTo>
                <a:lnTo>
                  <a:pt x="111853" y="0"/>
                </a:lnTo>
                <a:cubicBezTo>
                  <a:pt x="173587" y="0"/>
                  <a:pt x="223706" y="50120"/>
                  <a:pt x="223706" y="111853"/>
                </a:cubicBezTo>
                <a:lnTo>
                  <a:pt x="223706" y="111853"/>
                </a:lnTo>
                <a:cubicBezTo>
                  <a:pt x="223706" y="173587"/>
                  <a:pt x="173587" y="223706"/>
                  <a:pt x="111853" y="223706"/>
                </a:cubicBezTo>
                <a:lnTo>
                  <a:pt x="111853" y="223706"/>
                </a:lnTo>
                <a:cubicBezTo>
                  <a:pt x="50120" y="223706"/>
                  <a:pt x="0" y="173587"/>
                  <a:pt x="0" y="111853"/>
                </a:cubicBezTo>
                <a:lnTo>
                  <a:pt x="0" y="111853"/>
                </a:lnTo>
                <a:cubicBezTo>
                  <a:pt x="0" y="50120"/>
                  <a:pt x="50120" y="0"/>
                  <a:pt x="111853" y="0"/>
                </a:cubicBezTo>
                <a:close/>
              </a:path>
            </a:pathLst>
          </a:custGeom>
          <a:solidFill>
            <a:srgbClr val="C5A56A">
              <a:alpha val="30196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6492001" y="5527413"/>
            <a:ext cx="111853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741195" y="5471486"/>
            <a:ext cx="4958826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Reassess reorder quantities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low-turnover vendors to prevent accumulation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405635" y="6068037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111853" y="0"/>
                </a:moveTo>
                <a:lnTo>
                  <a:pt x="111853" y="0"/>
                </a:lnTo>
                <a:cubicBezTo>
                  <a:pt x="173587" y="0"/>
                  <a:pt x="223706" y="50120"/>
                  <a:pt x="223706" y="111853"/>
                </a:cubicBezTo>
                <a:lnTo>
                  <a:pt x="223706" y="111853"/>
                </a:lnTo>
                <a:cubicBezTo>
                  <a:pt x="223706" y="173587"/>
                  <a:pt x="173587" y="223706"/>
                  <a:pt x="111853" y="223706"/>
                </a:cubicBezTo>
                <a:lnTo>
                  <a:pt x="111853" y="223706"/>
                </a:lnTo>
                <a:cubicBezTo>
                  <a:pt x="50120" y="223706"/>
                  <a:pt x="0" y="173587"/>
                  <a:pt x="0" y="111853"/>
                </a:cubicBezTo>
                <a:lnTo>
                  <a:pt x="0" y="111853"/>
                </a:lnTo>
                <a:cubicBezTo>
                  <a:pt x="0" y="50120"/>
                  <a:pt x="50120" y="0"/>
                  <a:pt x="111853" y="0"/>
                </a:cubicBezTo>
                <a:close/>
              </a:path>
            </a:pathLst>
          </a:custGeom>
          <a:solidFill>
            <a:srgbClr val="C5A56A">
              <a:alpha val="30196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6479476" y="6086679"/>
            <a:ext cx="13981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741195" y="6030752"/>
            <a:ext cx="4427523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Introduce clearance strategies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release tied-up capital quickly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405635" y="6440881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111853" y="0"/>
                </a:moveTo>
                <a:lnTo>
                  <a:pt x="111853" y="0"/>
                </a:lnTo>
                <a:cubicBezTo>
                  <a:pt x="173587" y="0"/>
                  <a:pt x="223706" y="50120"/>
                  <a:pt x="223706" y="111853"/>
                </a:cubicBezTo>
                <a:lnTo>
                  <a:pt x="223706" y="111853"/>
                </a:lnTo>
                <a:cubicBezTo>
                  <a:pt x="223706" y="173587"/>
                  <a:pt x="173587" y="223706"/>
                  <a:pt x="111853" y="223706"/>
                </a:cubicBezTo>
                <a:lnTo>
                  <a:pt x="111853" y="223706"/>
                </a:lnTo>
                <a:cubicBezTo>
                  <a:pt x="50120" y="223706"/>
                  <a:pt x="0" y="173587"/>
                  <a:pt x="0" y="111853"/>
                </a:cubicBezTo>
                <a:lnTo>
                  <a:pt x="0" y="111853"/>
                </a:lnTo>
                <a:cubicBezTo>
                  <a:pt x="0" y="50120"/>
                  <a:pt x="50120" y="0"/>
                  <a:pt x="111853" y="0"/>
                </a:cubicBezTo>
                <a:close/>
              </a:path>
            </a:pathLst>
          </a:custGeom>
          <a:solidFill>
            <a:srgbClr val="C5A56A">
              <a:alpha val="30196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6477874" y="6459523"/>
            <a:ext cx="149138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741195" y="6403596"/>
            <a:ext cx="4399560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Renegotiate terms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vendors showing persistent low turnover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Profitability Comparison: Vendor Segments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00163"/>
            <a:ext cx="5591175" cy="5457825"/>
          </a:xfrm>
          <a:custGeom>
            <a:avLst/>
            <a:gdLst/>
            <a:ahLst/>
            <a:cxnLst/>
            <a:rect l="l" t="t" r="r" b="b"/>
            <a:pathLst>
              <a:path w="5591175" h="5457825">
                <a:moveTo>
                  <a:pt x="76191" y="0"/>
                </a:moveTo>
                <a:lnTo>
                  <a:pt x="5514984" y="0"/>
                </a:lnTo>
                <a:cubicBezTo>
                  <a:pt x="5557063" y="0"/>
                  <a:pt x="5591175" y="34112"/>
                  <a:pt x="5591175" y="76191"/>
                </a:cubicBezTo>
                <a:lnTo>
                  <a:pt x="5591175" y="5381634"/>
                </a:lnTo>
                <a:cubicBezTo>
                  <a:pt x="5591175" y="5423713"/>
                  <a:pt x="5557063" y="5457825"/>
                  <a:pt x="5514984" y="5457825"/>
                </a:cubicBezTo>
                <a:lnTo>
                  <a:pt x="76191" y="5457825"/>
                </a:lnTo>
                <a:cubicBezTo>
                  <a:pt x="34112" y="5457825"/>
                  <a:pt x="0" y="5423713"/>
                  <a:pt x="0" y="538163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1025" y="1495425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Margin Structure by Segment</a:t>
            </a:r>
            <a:endParaRPr lang="en-US" sz="1600" dirty="0"/>
          </a:p>
        </p:txBody>
      </p:sp>
      <p:pic>
        <p:nvPicPr>
          <p:cNvPr id="6" name="Image 0" descr="https://kimi-img.moonshot.cn/pub/slides/26-02-05-02:27:25-d61ov3djqed432ugnu8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025" y="1914525"/>
            <a:ext cx="5200650" cy="464820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215063" y="1300163"/>
            <a:ext cx="2714625" cy="1266825"/>
          </a:xfrm>
          <a:custGeom>
            <a:avLst/>
            <a:gdLst/>
            <a:ahLst/>
            <a:cxnLst/>
            <a:rect l="l" t="t" r="r" b="b"/>
            <a:pathLst>
              <a:path w="2714625" h="1266825">
                <a:moveTo>
                  <a:pt x="76200" y="0"/>
                </a:moveTo>
                <a:lnTo>
                  <a:pt x="2638425" y="0"/>
                </a:lnTo>
                <a:cubicBezTo>
                  <a:pt x="2680509" y="0"/>
                  <a:pt x="2714625" y="34116"/>
                  <a:pt x="2714625" y="76200"/>
                </a:cubicBezTo>
                <a:lnTo>
                  <a:pt x="2714625" y="1190625"/>
                </a:lnTo>
                <a:cubicBezTo>
                  <a:pt x="2714625" y="1232709"/>
                  <a:pt x="2680509" y="1266825"/>
                  <a:pt x="2638425" y="1266825"/>
                </a:cubicBezTo>
                <a:lnTo>
                  <a:pt x="76200" y="1266825"/>
                </a:lnTo>
                <a:cubicBezTo>
                  <a:pt x="34116" y="1266825"/>
                  <a:pt x="0" y="1232709"/>
                  <a:pt x="0" y="11906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A">
                  <a:alpha val="20000"/>
                </a:srgbClr>
              </a:gs>
              <a:gs pos="100000">
                <a:srgbClr val="3A5F7A">
                  <a:alpha val="5000"/>
                </a:srgbClr>
              </a:gs>
            </a:gsLst>
            <a:lin ang="2700000" scaled="1"/>
          </a:gra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103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524625" y="1647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0" name="Text 7"/>
          <p:cNvSpPr/>
          <p:nvPr/>
        </p:nvSpPr>
        <p:spPr>
          <a:xfrm>
            <a:off x="6981825" y="1495425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Top-Selling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81825" y="1685925"/>
            <a:ext cx="981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A5F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~31%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10325" y="2143125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Profit Margin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091613" y="1300163"/>
            <a:ext cx="2714625" cy="1266825"/>
          </a:xfrm>
          <a:custGeom>
            <a:avLst/>
            <a:gdLst/>
            <a:ahLst/>
            <a:cxnLst/>
            <a:rect l="l" t="t" r="r" b="b"/>
            <a:pathLst>
              <a:path w="2714625" h="1266825">
                <a:moveTo>
                  <a:pt x="76200" y="0"/>
                </a:moveTo>
                <a:lnTo>
                  <a:pt x="2638425" y="0"/>
                </a:lnTo>
                <a:cubicBezTo>
                  <a:pt x="2680509" y="0"/>
                  <a:pt x="2714625" y="34116"/>
                  <a:pt x="2714625" y="76200"/>
                </a:cubicBezTo>
                <a:lnTo>
                  <a:pt x="2714625" y="1190625"/>
                </a:lnTo>
                <a:cubicBezTo>
                  <a:pt x="2714625" y="1232709"/>
                  <a:pt x="2680509" y="1266825"/>
                  <a:pt x="2638425" y="1266825"/>
                </a:cubicBezTo>
                <a:lnTo>
                  <a:pt x="76200" y="1266825"/>
                </a:lnTo>
                <a:cubicBezTo>
                  <a:pt x="34116" y="1266825"/>
                  <a:pt x="0" y="1232709"/>
                  <a:pt x="0" y="11906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56A">
                  <a:alpha val="20000"/>
                </a:srgbClr>
              </a:gs>
              <a:gs pos="100000">
                <a:srgbClr val="C5A56A">
                  <a:alpha val="5000"/>
                </a:srgbClr>
              </a:gs>
            </a:gsLst>
            <a:lin ang="2700000" scaled="1"/>
          </a:gradFill>
          <a:ln w="12700">
            <a:solidFill>
              <a:srgbClr val="C5A56A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8687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5A56A">
              <a:alpha val="3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9415463" y="16478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85725" y="57150"/>
                </a:moveTo>
                <a:cubicBezTo>
                  <a:pt x="85725" y="33494"/>
                  <a:pt x="66519" y="14288"/>
                  <a:pt x="42863" y="14288"/>
                </a:cubicBezTo>
                <a:cubicBezTo>
                  <a:pt x="19206" y="14288"/>
                  <a:pt x="0" y="33494"/>
                  <a:pt x="0" y="57150"/>
                </a:cubicBezTo>
                <a:cubicBezTo>
                  <a:pt x="0" y="80806"/>
                  <a:pt x="19206" y="100013"/>
                  <a:pt x="42862" y="100013"/>
                </a:cubicBezTo>
                <a:cubicBezTo>
                  <a:pt x="66519" y="100013"/>
                  <a:pt x="85725" y="80806"/>
                  <a:pt x="85725" y="57150"/>
                </a:cubicBezTo>
                <a:close/>
                <a:moveTo>
                  <a:pt x="200025" y="171450"/>
                </a:moveTo>
                <a:cubicBezTo>
                  <a:pt x="200025" y="147794"/>
                  <a:pt x="180819" y="128588"/>
                  <a:pt x="157163" y="128588"/>
                </a:cubicBezTo>
                <a:cubicBezTo>
                  <a:pt x="133506" y="128588"/>
                  <a:pt x="114300" y="147794"/>
                  <a:pt x="114300" y="171450"/>
                </a:cubicBezTo>
                <a:cubicBezTo>
                  <a:pt x="114300" y="195106"/>
                  <a:pt x="133506" y="214313"/>
                  <a:pt x="157163" y="214313"/>
                </a:cubicBezTo>
                <a:cubicBezTo>
                  <a:pt x="180819" y="214313"/>
                  <a:pt x="200025" y="195106"/>
                  <a:pt x="200025" y="171450"/>
                </a:cubicBezTo>
                <a:close/>
                <a:moveTo>
                  <a:pt x="195828" y="38666"/>
                </a:moveTo>
                <a:cubicBezTo>
                  <a:pt x="201409" y="33084"/>
                  <a:pt x="201409" y="24021"/>
                  <a:pt x="195828" y="18440"/>
                </a:cubicBezTo>
                <a:cubicBezTo>
                  <a:pt x="190247" y="12859"/>
                  <a:pt x="181183" y="12859"/>
                  <a:pt x="175602" y="18440"/>
                </a:cubicBezTo>
                <a:lnTo>
                  <a:pt x="4152" y="189890"/>
                </a:lnTo>
                <a:cubicBezTo>
                  <a:pt x="-1429" y="195471"/>
                  <a:pt x="-1429" y="204534"/>
                  <a:pt x="4152" y="210116"/>
                </a:cubicBezTo>
                <a:cubicBezTo>
                  <a:pt x="9733" y="215697"/>
                  <a:pt x="18797" y="215697"/>
                  <a:pt x="24378" y="210116"/>
                </a:cubicBezTo>
                <a:lnTo>
                  <a:pt x="195828" y="38666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6" name="Text 13"/>
          <p:cNvSpPr/>
          <p:nvPr/>
        </p:nvSpPr>
        <p:spPr>
          <a:xfrm>
            <a:off x="9858375" y="1495425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6" kern="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Low-Performing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858375" y="1685925"/>
            <a:ext cx="1362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~41%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286875" y="2143125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Profit Margin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15063" y="2728913"/>
            <a:ext cx="5591175" cy="3095625"/>
          </a:xfrm>
          <a:custGeom>
            <a:avLst/>
            <a:gdLst/>
            <a:ahLst/>
            <a:cxnLst/>
            <a:rect l="l" t="t" r="r" b="b"/>
            <a:pathLst>
              <a:path w="5591175" h="3095625">
                <a:moveTo>
                  <a:pt x="76214" y="0"/>
                </a:moveTo>
                <a:lnTo>
                  <a:pt x="5514961" y="0"/>
                </a:lnTo>
                <a:cubicBezTo>
                  <a:pt x="5557053" y="0"/>
                  <a:pt x="5591175" y="34122"/>
                  <a:pt x="5591175" y="76214"/>
                </a:cubicBezTo>
                <a:lnTo>
                  <a:pt x="5591175" y="3019411"/>
                </a:lnTo>
                <a:cubicBezTo>
                  <a:pt x="5591175" y="3061503"/>
                  <a:pt x="5557053" y="3095625"/>
                  <a:pt x="5514961" y="3095625"/>
                </a:cubicBezTo>
                <a:lnTo>
                  <a:pt x="76214" y="3095625"/>
                </a:lnTo>
                <a:cubicBezTo>
                  <a:pt x="34122" y="3095625"/>
                  <a:pt x="0" y="3061503"/>
                  <a:pt x="0" y="3019411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10325" y="2924175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Distinct Commercial Models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29375" y="3343275"/>
            <a:ext cx="5181600" cy="1066800"/>
          </a:xfrm>
          <a:custGeom>
            <a:avLst/>
            <a:gdLst/>
            <a:ahLst/>
            <a:cxnLst/>
            <a:rect l="l" t="t" r="r" b="b"/>
            <a:pathLst>
              <a:path w="5181600" h="1066800">
                <a:moveTo>
                  <a:pt x="38100" y="0"/>
                </a:moveTo>
                <a:lnTo>
                  <a:pt x="5105398" y="0"/>
                </a:lnTo>
                <a:cubicBezTo>
                  <a:pt x="5147483" y="0"/>
                  <a:pt x="5181600" y="34117"/>
                  <a:pt x="5181600" y="76202"/>
                </a:cubicBezTo>
                <a:lnTo>
                  <a:pt x="5181600" y="990598"/>
                </a:lnTo>
                <a:cubicBezTo>
                  <a:pt x="5181600" y="1032683"/>
                  <a:pt x="5147483" y="1066800"/>
                  <a:pt x="510539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429375" y="3343275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3" name="Shape 20"/>
          <p:cNvSpPr/>
          <p:nvPr/>
        </p:nvSpPr>
        <p:spPr>
          <a:xfrm>
            <a:off x="6619875" y="3533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4" name="Text 21"/>
          <p:cNvSpPr/>
          <p:nvPr/>
        </p:nvSpPr>
        <p:spPr>
          <a:xfrm>
            <a:off x="6867525" y="3495675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High-Volume Model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00825" y="3800475"/>
            <a:ext cx="4933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Prioritizes market penetration and scale with moderate margins. Strong brand recognition drives consistent demand.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29375" y="4562475"/>
            <a:ext cx="5181600" cy="1066800"/>
          </a:xfrm>
          <a:custGeom>
            <a:avLst/>
            <a:gdLst/>
            <a:ahLst/>
            <a:cxnLst/>
            <a:rect l="l" t="t" r="r" b="b"/>
            <a:pathLst>
              <a:path w="5181600" h="1066800">
                <a:moveTo>
                  <a:pt x="38100" y="0"/>
                </a:moveTo>
                <a:lnTo>
                  <a:pt x="5105398" y="0"/>
                </a:lnTo>
                <a:cubicBezTo>
                  <a:pt x="5147483" y="0"/>
                  <a:pt x="5181600" y="34117"/>
                  <a:pt x="5181600" y="76202"/>
                </a:cubicBezTo>
                <a:lnTo>
                  <a:pt x="5181600" y="990598"/>
                </a:lnTo>
                <a:cubicBezTo>
                  <a:pt x="5181600" y="1032683"/>
                  <a:pt x="5147483" y="1066800"/>
                  <a:pt x="510539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429375" y="4562475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28" name="Shape 25"/>
          <p:cNvSpPr/>
          <p:nvPr/>
        </p:nvSpPr>
        <p:spPr>
          <a:xfrm>
            <a:off x="6619875" y="4752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4736" y="10061"/>
                </a:moveTo>
                <a:cubicBezTo>
                  <a:pt x="36076" y="8245"/>
                  <a:pt x="38219" y="7144"/>
                  <a:pt x="40481" y="7144"/>
                </a:cubicBezTo>
                <a:lnTo>
                  <a:pt x="111919" y="7144"/>
                </a:lnTo>
                <a:cubicBezTo>
                  <a:pt x="114181" y="7144"/>
                  <a:pt x="116324" y="8215"/>
                  <a:pt x="117664" y="10061"/>
                </a:cubicBezTo>
                <a:lnTo>
                  <a:pt x="151001" y="55305"/>
                </a:lnTo>
                <a:cubicBezTo>
                  <a:pt x="153025" y="58043"/>
                  <a:pt x="152817" y="61823"/>
                  <a:pt x="150555" y="64353"/>
                </a:cubicBezTo>
                <a:lnTo>
                  <a:pt x="81498" y="140553"/>
                </a:lnTo>
                <a:cubicBezTo>
                  <a:pt x="80159" y="142042"/>
                  <a:pt x="78224" y="142905"/>
                  <a:pt x="76200" y="142905"/>
                </a:cubicBezTo>
                <a:cubicBezTo>
                  <a:pt x="74176" y="142905"/>
                  <a:pt x="72271" y="142042"/>
                  <a:pt x="70902" y="140553"/>
                </a:cubicBezTo>
                <a:lnTo>
                  <a:pt x="1845" y="64353"/>
                </a:lnTo>
                <a:cubicBezTo>
                  <a:pt x="-446" y="61823"/>
                  <a:pt x="-625" y="58043"/>
                  <a:pt x="1399" y="55305"/>
                </a:cubicBezTo>
                <a:lnTo>
                  <a:pt x="34736" y="10061"/>
                </a:lnTo>
                <a:close/>
                <a:moveTo>
                  <a:pt x="46196" y="21908"/>
                </a:moveTo>
                <a:cubicBezTo>
                  <a:pt x="45214" y="22652"/>
                  <a:pt x="44946" y="23991"/>
                  <a:pt x="45571" y="25033"/>
                </a:cubicBezTo>
                <a:lnTo>
                  <a:pt x="62657" y="53519"/>
                </a:lnTo>
                <a:lnTo>
                  <a:pt x="18842" y="57150"/>
                </a:lnTo>
                <a:cubicBezTo>
                  <a:pt x="17621" y="57239"/>
                  <a:pt x="16669" y="58281"/>
                  <a:pt x="16669" y="59531"/>
                </a:cubicBezTo>
                <a:cubicBezTo>
                  <a:pt x="16669" y="60781"/>
                  <a:pt x="17621" y="61793"/>
                  <a:pt x="18842" y="61912"/>
                </a:cubicBezTo>
                <a:lnTo>
                  <a:pt x="75992" y="66675"/>
                </a:lnTo>
                <a:cubicBezTo>
                  <a:pt x="76111" y="66675"/>
                  <a:pt x="76260" y="66675"/>
                  <a:pt x="76379" y="66675"/>
                </a:cubicBezTo>
                <a:lnTo>
                  <a:pt x="133529" y="61912"/>
                </a:lnTo>
                <a:cubicBezTo>
                  <a:pt x="134749" y="61823"/>
                  <a:pt x="135701" y="60781"/>
                  <a:pt x="135701" y="59531"/>
                </a:cubicBezTo>
                <a:cubicBezTo>
                  <a:pt x="135701" y="58281"/>
                  <a:pt x="134749" y="57269"/>
                  <a:pt x="133529" y="57150"/>
                </a:cubicBezTo>
                <a:lnTo>
                  <a:pt x="89714" y="53489"/>
                </a:lnTo>
                <a:lnTo>
                  <a:pt x="106799" y="25033"/>
                </a:lnTo>
                <a:cubicBezTo>
                  <a:pt x="107424" y="23991"/>
                  <a:pt x="107156" y="22622"/>
                  <a:pt x="106174" y="21908"/>
                </a:cubicBezTo>
                <a:cubicBezTo>
                  <a:pt x="105192" y="21193"/>
                  <a:pt x="103823" y="21312"/>
                  <a:pt x="102989" y="22205"/>
                </a:cubicBezTo>
                <a:lnTo>
                  <a:pt x="76200" y="51256"/>
                </a:lnTo>
                <a:lnTo>
                  <a:pt x="49381" y="22205"/>
                </a:lnTo>
                <a:cubicBezTo>
                  <a:pt x="48548" y="21312"/>
                  <a:pt x="47179" y="21193"/>
                  <a:pt x="46196" y="21908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29" name="Text 26"/>
          <p:cNvSpPr/>
          <p:nvPr/>
        </p:nvSpPr>
        <p:spPr>
          <a:xfrm>
            <a:off x="6867525" y="47148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High-Margin Model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600825" y="5019675"/>
            <a:ext cx="4933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Operates at premium margins but lower volumes. Suggests pricing power or niche market positioning constraints.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215063" y="5986463"/>
            <a:ext cx="5591175" cy="771525"/>
          </a:xfrm>
          <a:custGeom>
            <a:avLst/>
            <a:gdLst/>
            <a:ahLst/>
            <a:cxnLst/>
            <a:rect l="l" t="t" r="r" b="b"/>
            <a:pathLst>
              <a:path w="5591175" h="771525">
                <a:moveTo>
                  <a:pt x="76204" y="0"/>
                </a:moveTo>
                <a:lnTo>
                  <a:pt x="5514971" y="0"/>
                </a:lnTo>
                <a:cubicBezTo>
                  <a:pt x="5557058" y="0"/>
                  <a:pt x="5591175" y="34117"/>
                  <a:pt x="5591175" y="76204"/>
                </a:cubicBezTo>
                <a:lnTo>
                  <a:pt x="5591175" y="695321"/>
                </a:lnTo>
                <a:cubicBezTo>
                  <a:pt x="5591175" y="737408"/>
                  <a:pt x="5557058" y="771525"/>
                  <a:pt x="551497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56A">
                  <a:alpha val="20000"/>
                </a:srgbClr>
              </a:gs>
              <a:gs pos="100000">
                <a:srgbClr val="3A5F7A">
                  <a:alpha val="20000"/>
                </a:srgbClr>
              </a:gs>
            </a:gsLst>
            <a:lin ang="0" scaled="1"/>
          </a:gradFill>
          <a:ln w="12700">
            <a:solidFill>
              <a:srgbClr val="C5A56A">
                <a:alpha val="3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0800" y="61817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0"/>
                </a:moveTo>
                <a:lnTo>
                  <a:pt x="38100" y="0"/>
                </a:lnTo>
                <a:cubicBezTo>
                  <a:pt x="32831" y="0"/>
                  <a:pt x="28575" y="4256"/>
                  <a:pt x="28575" y="9525"/>
                </a:cubicBezTo>
                <a:cubicBezTo>
                  <a:pt x="28575" y="14794"/>
                  <a:pt x="32831" y="19050"/>
                  <a:pt x="38100" y="19050"/>
                </a:cubicBezTo>
                <a:lnTo>
                  <a:pt x="38100" y="64145"/>
                </a:lnTo>
                <a:lnTo>
                  <a:pt x="2232" y="126891"/>
                </a:lnTo>
                <a:cubicBezTo>
                  <a:pt x="774" y="129480"/>
                  <a:pt x="0" y="132368"/>
                  <a:pt x="0" y="135344"/>
                </a:cubicBezTo>
                <a:cubicBezTo>
                  <a:pt x="0" y="144780"/>
                  <a:pt x="7620" y="152400"/>
                  <a:pt x="17056" y="152400"/>
                </a:cubicBezTo>
                <a:lnTo>
                  <a:pt x="116294" y="152400"/>
                </a:lnTo>
                <a:cubicBezTo>
                  <a:pt x="125700" y="152400"/>
                  <a:pt x="133350" y="144780"/>
                  <a:pt x="133350" y="135344"/>
                </a:cubicBezTo>
                <a:cubicBezTo>
                  <a:pt x="133350" y="132368"/>
                  <a:pt x="132576" y="129451"/>
                  <a:pt x="131118" y="126891"/>
                </a:cubicBezTo>
                <a:lnTo>
                  <a:pt x="95250" y="64145"/>
                </a:lnTo>
                <a:lnTo>
                  <a:pt x="95250" y="19050"/>
                </a:lnTo>
                <a:cubicBezTo>
                  <a:pt x="100519" y="19050"/>
                  <a:pt x="104775" y="14794"/>
                  <a:pt x="104775" y="9525"/>
                </a:cubicBezTo>
                <a:cubicBezTo>
                  <a:pt x="104775" y="4256"/>
                  <a:pt x="100519" y="0"/>
                  <a:pt x="95250" y="0"/>
                </a:cubicBezTo>
                <a:lnTo>
                  <a:pt x="85725" y="0"/>
                </a:lnTo>
                <a:close/>
                <a:moveTo>
                  <a:pt x="57150" y="64145"/>
                </a:moveTo>
                <a:lnTo>
                  <a:pt x="57150" y="19050"/>
                </a:lnTo>
                <a:lnTo>
                  <a:pt x="76200" y="19050"/>
                </a:lnTo>
                <a:lnTo>
                  <a:pt x="76200" y="64145"/>
                </a:lnTo>
                <a:cubicBezTo>
                  <a:pt x="76200" y="67449"/>
                  <a:pt x="77063" y="70723"/>
                  <a:pt x="78700" y="73610"/>
                </a:cubicBezTo>
                <a:lnTo>
                  <a:pt x="91083" y="95250"/>
                </a:lnTo>
                <a:lnTo>
                  <a:pt x="42267" y="95250"/>
                </a:lnTo>
                <a:lnTo>
                  <a:pt x="54650" y="73610"/>
                </a:lnTo>
                <a:cubicBezTo>
                  <a:pt x="56287" y="70723"/>
                  <a:pt x="57150" y="67479"/>
                  <a:pt x="57150" y="64145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33" name="Text 30"/>
          <p:cNvSpPr/>
          <p:nvPr/>
        </p:nvSpPr>
        <p:spPr>
          <a:xfrm>
            <a:off x="6619875" y="6143625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Validation: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Testing confirms significant difference in profit margins, validating structurally different strategies.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00163"/>
            <a:ext cx="3676650" cy="2505075"/>
          </a:xfrm>
          <a:custGeom>
            <a:avLst/>
            <a:gdLst/>
            <a:ahLst/>
            <a:cxnLst/>
            <a:rect l="l" t="t" r="r" b="b"/>
            <a:pathLst>
              <a:path w="3676650" h="2505075">
                <a:moveTo>
                  <a:pt x="76204" y="0"/>
                </a:moveTo>
                <a:lnTo>
                  <a:pt x="3600446" y="0"/>
                </a:lnTo>
                <a:cubicBezTo>
                  <a:pt x="3642532" y="0"/>
                  <a:pt x="3676650" y="34118"/>
                  <a:pt x="3676650" y="76204"/>
                </a:cubicBezTo>
                <a:lnTo>
                  <a:pt x="3676650" y="2428871"/>
                </a:lnTo>
                <a:cubicBezTo>
                  <a:pt x="3676650" y="2470957"/>
                  <a:pt x="3642532" y="2505075"/>
                  <a:pt x="3600446" y="2505075"/>
                </a:cubicBezTo>
                <a:lnTo>
                  <a:pt x="76204" y="2505075"/>
                </a:lnTo>
                <a:cubicBezTo>
                  <a:pt x="34118" y="2505075"/>
                  <a:pt x="0" y="2470957"/>
                  <a:pt x="0" y="24288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56A">
                  <a:alpha val="20000"/>
                </a:srgbClr>
              </a:gs>
              <a:gs pos="100000">
                <a:srgbClr val="C5A56A">
                  <a:alpha val="5000"/>
                </a:srgbClr>
              </a:gs>
            </a:gsLst>
            <a:lin ang="2700000" scaled="1"/>
          </a:gradFill>
          <a:ln w="12700">
            <a:solidFill>
              <a:srgbClr val="C5A56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495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5A56A">
              <a:alpha val="3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9435" y="16097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28725" y="1628775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High-Margin Vendors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2181225"/>
            <a:ext cx="336232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targeted promotions and pricing adjustments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increase sales volume for low-performing, high-margin vendors while preserving their premium margin structure.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6744" y="34480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0" name="Text 8"/>
          <p:cNvSpPr/>
          <p:nvPr/>
        </p:nvSpPr>
        <p:spPr>
          <a:xfrm>
            <a:off x="823913" y="3419475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 Growth Opportunity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9163" y="1300163"/>
            <a:ext cx="3676650" cy="2505075"/>
          </a:xfrm>
          <a:custGeom>
            <a:avLst/>
            <a:gdLst/>
            <a:ahLst/>
            <a:cxnLst/>
            <a:rect l="l" t="t" r="r" b="b"/>
            <a:pathLst>
              <a:path w="3676650" h="2505075">
                <a:moveTo>
                  <a:pt x="76204" y="0"/>
                </a:moveTo>
                <a:lnTo>
                  <a:pt x="3600446" y="0"/>
                </a:lnTo>
                <a:cubicBezTo>
                  <a:pt x="3642532" y="0"/>
                  <a:pt x="3676650" y="34118"/>
                  <a:pt x="3676650" y="76204"/>
                </a:cubicBezTo>
                <a:lnTo>
                  <a:pt x="3676650" y="2428871"/>
                </a:lnTo>
                <a:cubicBezTo>
                  <a:pt x="3676650" y="2470957"/>
                  <a:pt x="3642532" y="2505075"/>
                  <a:pt x="3600446" y="2505075"/>
                </a:cubicBezTo>
                <a:lnTo>
                  <a:pt x="76204" y="2505075"/>
                </a:lnTo>
                <a:cubicBezTo>
                  <a:pt x="34118" y="2505075"/>
                  <a:pt x="0" y="2470957"/>
                  <a:pt x="0" y="24288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A">
                  <a:alpha val="20000"/>
                </a:srgbClr>
              </a:gs>
              <a:gs pos="100000">
                <a:srgbClr val="3A5F7A">
                  <a:alpha val="5000"/>
                </a:srgbClr>
              </a:gs>
            </a:gsLst>
            <a:lin ang="2700000" scaled="1"/>
          </a:gra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54426" y="1495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149" y="1609725"/>
            <a:ext cx="409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5F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02126" y="1628775"/>
            <a:ext cx="2590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 Top Vendor Margins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54426" y="2181225"/>
            <a:ext cx="336232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reductions, bundled offerings, or selective price optimization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scale to improve profitability without compromising market share.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81810" y="34480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0006" y="33337"/>
                </a:moveTo>
                <a:cubicBezTo>
                  <a:pt x="50006" y="19538"/>
                  <a:pt x="38803" y="8334"/>
                  <a:pt x="25003" y="8334"/>
                </a:cubicBezTo>
                <a:cubicBezTo>
                  <a:pt x="11204" y="8334"/>
                  <a:pt x="0" y="19538"/>
                  <a:pt x="0" y="33337"/>
                </a:cubicBezTo>
                <a:cubicBezTo>
                  <a:pt x="0" y="47137"/>
                  <a:pt x="11204" y="58341"/>
                  <a:pt x="25003" y="58341"/>
                </a:cubicBezTo>
                <a:cubicBezTo>
                  <a:pt x="38803" y="58341"/>
                  <a:pt x="50006" y="47137"/>
                  <a:pt x="50006" y="33338"/>
                </a:cubicBezTo>
                <a:close/>
                <a:moveTo>
                  <a:pt x="116681" y="100013"/>
                </a:moveTo>
                <a:cubicBezTo>
                  <a:pt x="116681" y="86213"/>
                  <a:pt x="105478" y="75009"/>
                  <a:pt x="91678" y="75009"/>
                </a:cubicBezTo>
                <a:cubicBezTo>
                  <a:pt x="77879" y="75009"/>
                  <a:pt x="66675" y="86213"/>
                  <a:pt x="66675" y="100013"/>
                </a:cubicBezTo>
                <a:cubicBezTo>
                  <a:pt x="66675" y="113812"/>
                  <a:pt x="77879" y="125016"/>
                  <a:pt x="91678" y="125016"/>
                </a:cubicBezTo>
                <a:cubicBezTo>
                  <a:pt x="105478" y="125016"/>
                  <a:pt x="116681" y="113812"/>
                  <a:pt x="116681" y="100013"/>
                </a:cubicBezTo>
                <a:close/>
                <a:moveTo>
                  <a:pt x="114233" y="22555"/>
                </a:moveTo>
                <a:cubicBezTo>
                  <a:pt x="117489" y="19299"/>
                  <a:pt x="117489" y="14012"/>
                  <a:pt x="114233" y="10757"/>
                </a:cubicBezTo>
                <a:cubicBezTo>
                  <a:pt x="110977" y="7501"/>
                  <a:pt x="105690" y="7501"/>
                  <a:pt x="102435" y="10757"/>
                </a:cubicBezTo>
                <a:lnTo>
                  <a:pt x="2422" y="110769"/>
                </a:lnTo>
                <a:cubicBezTo>
                  <a:pt x="-833" y="114025"/>
                  <a:pt x="-833" y="119312"/>
                  <a:pt x="2422" y="122567"/>
                </a:cubicBezTo>
                <a:cubicBezTo>
                  <a:pt x="5678" y="125823"/>
                  <a:pt x="10965" y="125823"/>
                  <a:pt x="14221" y="122567"/>
                </a:cubicBezTo>
                <a:lnTo>
                  <a:pt x="114233" y="22555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7" name="Text 15"/>
          <p:cNvSpPr/>
          <p:nvPr/>
        </p:nvSpPr>
        <p:spPr>
          <a:xfrm>
            <a:off x="4697313" y="3419475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Margin Enhancement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2713" y="1300163"/>
            <a:ext cx="3676650" cy="2505075"/>
          </a:xfrm>
          <a:custGeom>
            <a:avLst/>
            <a:gdLst/>
            <a:ahLst/>
            <a:cxnLst/>
            <a:rect l="l" t="t" r="r" b="b"/>
            <a:pathLst>
              <a:path w="3676650" h="2505075">
                <a:moveTo>
                  <a:pt x="76204" y="0"/>
                </a:moveTo>
                <a:lnTo>
                  <a:pt x="3600446" y="0"/>
                </a:lnTo>
                <a:cubicBezTo>
                  <a:pt x="3642532" y="0"/>
                  <a:pt x="3676650" y="34118"/>
                  <a:pt x="3676650" y="76204"/>
                </a:cubicBezTo>
                <a:lnTo>
                  <a:pt x="3676650" y="2428871"/>
                </a:lnTo>
                <a:cubicBezTo>
                  <a:pt x="3676650" y="2470957"/>
                  <a:pt x="3642532" y="2505075"/>
                  <a:pt x="3600446" y="2505075"/>
                </a:cubicBezTo>
                <a:lnTo>
                  <a:pt x="76204" y="2505075"/>
                </a:lnTo>
                <a:cubicBezTo>
                  <a:pt x="34118" y="2505075"/>
                  <a:pt x="0" y="2470957"/>
                  <a:pt x="0" y="24288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rotWithShape="1" flip="none">
            <a:gsLst>
              <a:gs pos="0">
                <a:srgbClr val="5E7A8E">
                  <a:alpha val="20000"/>
                </a:srgbClr>
              </a:gs>
              <a:gs pos="100000">
                <a:srgbClr val="5E7A8E">
                  <a:alpha val="5000"/>
                </a:srgbClr>
              </a:gs>
            </a:gsLst>
            <a:lin ang="2700000" scaled="1"/>
          </a:gradFill>
          <a:ln w="12700">
            <a:solidFill>
              <a:srgbClr val="5E7A8E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7975" y="1495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E7A8E">
              <a:alpha val="3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444657" y="1609725"/>
            <a:ext cx="409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7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75675" y="1628775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Dependency Risk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7975" y="2181225"/>
            <a:ext cx="336232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Diversify sourcing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scaling reliable mid-tier vendors to improve supply chain resilience and strengthen negotiating leverage.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47025" y="3448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24" name="Text 22"/>
          <p:cNvSpPr/>
          <p:nvPr/>
        </p:nvSpPr>
        <p:spPr>
          <a:xfrm>
            <a:off x="8570863" y="3419475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Mitigation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4005262"/>
            <a:ext cx="3676650" cy="2466975"/>
          </a:xfrm>
          <a:custGeom>
            <a:avLst/>
            <a:gdLst/>
            <a:ahLst/>
            <a:cxnLst/>
            <a:rect l="l" t="t" r="r" b="b"/>
            <a:pathLst>
              <a:path w="3676650" h="2466975">
                <a:moveTo>
                  <a:pt x="76205" y="0"/>
                </a:moveTo>
                <a:lnTo>
                  <a:pt x="3600445" y="0"/>
                </a:lnTo>
                <a:cubicBezTo>
                  <a:pt x="3642504" y="0"/>
                  <a:pt x="3676650" y="34146"/>
                  <a:pt x="3676650" y="76205"/>
                </a:cubicBezTo>
                <a:lnTo>
                  <a:pt x="3676650" y="2390770"/>
                </a:lnTo>
                <a:cubicBezTo>
                  <a:pt x="3676650" y="2432857"/>
                  <a:pt x="3642532" y="2466975"/>
                  <a:pt x="3600445" y="2466975"/>
                </a:cubicBezTo>
                <a:lnTo>
                  <a:pt x="76205" y="2466975"/>
                </a:lnTo>
                <a:cubicBezTo>
                  <a:pt x="34146" y="2466975"/>
                  <a:pt x="0" y="2432829"/>
                  <a:pt x="0" y="23907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56A">
                  <a:alpha val="20000"/>
                </a:srgbClr>
              </a:gs>
              <a:gs pos="100000">
                <a:srgbClr val="C5A56A">
                  <a:alpha val="5000"/>
                </a:srgbClr>
              </a:gs>
            </a:gsLst>
            <a:lin ang="2700000" scaled="1"/>
          </a:gradFill>
          <a:ln w="12700">
            <a:solidFill>
              <a:srgbClr val="C5A56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1025" y="4200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5A56A">
              <a:alpha val="3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97855" y="4314825"/>
            <a:ext cx="409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5A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28725" y="4333875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Leverage Bulk Procurement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1025" y="4886325"/>
            <a:ext cx="33623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bulk purchasing where demand is stable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inventory turnover is strong to capture the 72% cost reduction benefit.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0075" y="6115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31" name="Text 29"/>
          <p:cNvSpPr/>
          <p:nvPr/>
        </p:nvSpPr>
        <p:spPr>
          <a:xfrm>
            <a:off x="823913" y="6086475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Efficiency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59163" y="4005262"/>
            <a:ext cx="3676650" cy="2466975"/>
          </a:xfrm>
          <a:custGeom>
            <a:avLst/>
            <a:gdLst/>
            <a:ahLst/>
            <a:cxnLst/>
            <a:rect l="l" t="t" r="r" b="b"/>
            <a:pathLst>
              <a:path w="3676650" h="2466975">
                <a:moveTo>
                  <a:pt x="76205" y="0"/>
                </a:moveTo>
                <a:lnTo>
                  <a:pt x="3600445" y="0"/>
                </a:lnTo>
                <a:cubicBezTo>
                  <a:pt x="3642504" y="0"/>
                  <a:pt x="3676650" y="34146"/>
                  <a:pt x="3676650" y="76205"/>
                </a:cubicBezTo>
                <a:lnTo>
                  <a:pt x="3676650" y="2390770"/>
                </a:lnTo>
                <a:cubicBezTo>
                  <a:pt x="3676650" y="2432857"/>
                  <a:pt x="3642532" y="2466975"/>
                  <a:pt x="3600445" y="2466975"/>
                </a:cubicBezTo>
                <a:lnTo>
                  <a:pt x="76205" y="2466975"/>
                </a:lnTo>
                <a:cubicBezTo>
                  <a:pt x="34146" y="2466975"/>
                  <a:pt x="0" y="2432829"/>
                  <a:pt x="0" y="23907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A">
                  <a:alpha val="20000"/>
                </a:srgbClr>
              </a:gs>
              <a:gs pos="100000">
                <a:srgbClr val="3A5F7A">
                  <a:alpha val="5000"/>
                </a:srgbClr>
              </a:gs>
            </a:gsLst>
            <a:lin ang="2700000" scaled="1"/>
          </a:gra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54426" y="4200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72744" y="4314825"/>
            <a:ext cx="409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5F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02126" y="4333875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Inventory Efficiency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54426" y="4886325"/>
            <a:ext cx="33623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Actively manage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slow-moving stock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clearance, promotional, or renegotiation strategies to release the $2.71M tied-up capital.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73476" y="6115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109284"/>
                </a:moveTo>
                <a:lnTo>
                  <a:pt x="0" y="28519"/>
                </a:lnTo>
                <a:cubicBezTo>
                  <a:pt x="0" y="22477"/>
                  <a:pt x="6277" y="18466"/>
                  <a:pt x="12059" y="20185"/>
                </a:cubicBezTo>
                <a:cubicBezTo>
                  <a:pt x="34900" y="27009"/>
                  <a:pt x="51048" y="21617"/>
                  <a:pt x="67300" y="16200"/>
                </a:cubicBezTo>
                <a:cubicBezTo>
                  <a:pt x="84099" y="10600"/>
                  <a:pt x="101002" y="4975"/>
                  <a:pt x="125458" y="12788"/>
                </a:cubicBezTo>
                <a:cubicBezTo>
                  <a:pt x="130277" y="14325"/>
                  <a:pt x="133350" y="18987"/>
                  <a:pt x="133350" y="24066"/>
                </a:cubicBezTo>
                <a:lnTo>
                  <a:pt x="133350" y="104831"/>
                </a:lnTo>
                <a:cubicBezTo>
                  <a:pt x="133350" y="110873"/>
                  <a:pt x="127073" y="114884"/>
                  <a:pt x="121317" y="113165"/>
                </a:cubicBezTo>
                <a:cubicBezTo>
                  <a:pt x="98476" y="106341"/>
                  <a:pt x="82302" y="111733"/>
                  <a:pt x="66076" y="117150"/>
                </a:cubicBezTo>
                <a:cubicBezTo>
                  <a:pt x="49277" y="122750"/>
                  <a:pt x="32374" y="128375"/>
                  <a:pt x="7918" y="120562"/>
                </a:cubicBezTo>
                <a:cubicBezTo>
                  <a:pt x="3099" y="119025"/>
                  <a:pt x="26" y="114363"/>
                  <a:pt x="26" y="109284"/>
                </a:cubicBezTo>
                <a:close/>
                <a:moveTo>
                  <a:pt x="87511" y="66675"/>
                </a:moveTo>
                <a:cubicBezTo>
                  <a:pt x="87511" y="52871"/>
                  <a:pt x="78187" y="41672"/>
                  <a:pt x="66675" y="41672"/>
                </a:cubicBezTo>
                <a:cubicBezTo>
                  <a:pt x="55163" y="41672"/>
                  <a:pt x="45839" y="52871"/>
                  <a:pt x="45839" y="66675"/>
                </a:cubicBezTo>
                <a:cubicBezTo>
                  <a:pt x="45839" y="80479"/>
                  <a:pt x="55163" y="91678"/>
                  <a:pt x="66675" y="91678"/>
                </a:cubicBezTo>
                <a:cubicBezTo>
                  <a:pt x="78187" y="91678"/>
                  <a:pt x="87511" y="80479"/>
                  <a:pt x="87511" y="66675"/>
                </a:cubicBezTo>
                <a:close/>
                <a:moveTo>
                  <a:pt x="31254" y="107722"/>
                </a:moveTo>
                <a:cubicBezTo>
                  <a:pt x="32400" y="107722"/>
                  <a:pt x="33311" y="106732"/>
                  <a:pt x="33129" y="105612"/>
                </a:cubicBezTo>
                <a:cubicBezTo>
                  <a:pt x="31931" y="98372"/>
                  <a:pt x="26097" y="92720"/>
                  <a:pt x="18752" y="91808"/>
                </a:cubicBezTo>
                <a:cubicBezTo>
                  <a:pt x="17606" y="91678"/>
                  <a:pt x="16669" y="92616"/>
                  <a:pt x="16669" y="93762"/>
                </a:cubicBezTo>
                <a:lnTo>
                  <a:pt x="16669" y="104154"/>
                </a:lnTo>
                <a:cubicBezTo>
                  <a:pt x="16669" y="105091"/>
                  <a:pt x="17294" y="105925"/>
                  <a:pt x="18231" y="106159"/>
                </a:cubicBezTo>
                <a:cubicBezTo>
                  <a:pt x="22893" y="107253"/>
                  <a:pt x="27165" y="107748"/>
                  <a:pt x="31254" y="107748"/>
                </a:cubicBezTo>
                <a:close/>
                <a:moveTo>
                  <a:pt x="114207" y="94413"/>
                </a:moveTo>
                <a:cubicBezTo>
                  <a:pt x="115509" y="94621"/>
                  <a:pt x="116681" y="93631"/>
                  <a:pt x="116681" y="92329"/>
                </a:cubicBezTo>
                <a:lnTo>
                  <a:pt x="116681" y="81234"/>
                </a:lnTo>
                <a:cubicBezTo>
                  <a:pt x="116681" y="80088"/>
                  <a:pt x="115744" y="79124"/>
                  <a:pt x="114598" y="79281"/>
                </a:cubicBezTo>
                <a:cubicBezTo>
                  <a:pt x="108034" y="80088"/>
                  <a:pt x="102643" y="84724"/>
                  <a:pt x="100742" y="90897"/>
                </a:cubicBezTo>
                <a:cubicBezTo>
                  <a:pt x="100377" y="92121"/>
                  <a:pt x="101341" y="93267"/>
                  <a:pt x="102617" y="93293"/>
                </a:cubicBezTo>
                <a:cubicBezTo>
                  <a:pt x="106315" y="93397"/>
                  <a:pt x="110170" y="93736"/>
                  <a:pt x="114181" y="94413"/>
                </a:cubicBezTo>
                <a:close/>
                <a:moveTo>
                  <a:pt x="116681" y="39588"/>
                </a:moveTo>
                <a:lnTo>
                  <a:pt x="116681" y="29196"/>
                </a:lnTo>
                <a:cubicBezTo>
                  <a:pt x="116681" y="28259"/>
                  <a:pt x="116030" y="27425"/>
                  <a:pt x="115119" y="27191"/>
                </a:cubicBezTo>
                <a:cubicBezTo>
                  <a:pt x="110457" y="26097"/>
                  <a:pt x="106185" y="25602"/>
                  <a:pt x="102096" y="25602"/>
                </a:cubicBezTo>
                <a:cubicBezTo>
                  <a:pt x="100950" y="25602"/>
                  <a:pt x="100039" y="26592"/>
                  <a:pt x="100221" y="27712"/>
                </a:cubicBezTo>
                <a:cubicBezTo>
                  <a:pt x="101419" y="34952"/>
                  <a:pt x="107253" y="40604"/>
                  <a:pt x="114598" y="41516"/>
                </a:cubicBezTo>
                <a:cubicBezTo>
                  <a:pt x="115744" y="41646"/>
                  <a:pt x="116681" y="40708"/>
                  <a:pt x="116681" y="39562"/>
                </a:cubicBezTo>
                <a:close/>
                <a:moveTo>
                  <a:pt x="32608" y="42427"/>
                </a:moveTo>
                <a:cubicBezTo>
                  <a:pt x="32973" y="41203"/>
                  <a:pt x="32009" y="40057"/>
                  <a:pt x="30733" y="40031"/>
                </a:cubicBezTo>
                <a:cubicBezTo>
                  <a:pt x="27035" y="39927"/>
                  <a:pt x="23180" y="39588"/>
                  <a:pt x="19169" y="38911"/>
                </a:cubicBezTo>
                <a:cubicBezTo>
                  <a:pt x="17867" y="38703"/>
                  <a:pt x="16695" y="39692"/>
                  <a:pt x="16695" y="40995"/>
                </a:cubicBezTo>
                <a:lnTo>
                  <a:pt x="16669" y="52090"/>
                </a:lnTo>
                <a:cubicBezTo>
                  <a:pt x="16669" y="53236"/>
                  <a:pt x="17606" y="54199"/>
                  <a:pt x="18752" y="54043"/>
                </a:cubicBezTo>
                <a:cubicBezTo>
                  <a:pt x="25316" y="53236"/>
                  <a:pt x="30707" y="48600"/>
                  <a:pt x="32608" y="42427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8" name="Text 36"/>
          <p:cNvSpPr/>
          <p:nvPr/>
        </p:nvSpPr>
        <p:spPr>
          <a:xfrm>
            <a:off x="4697313" y="608647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Cash Flow Optimization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32713" y="4005262"/>
            <a:ext cx="3676650" cy="2466975"/>
          </a:xfrm>
          <a:custGeom>
            <a:avLst/>
            <a:gdLst/>
            <a:ahLst/>
            <a:cxnLst/>
            <a:rect l="l" t="t" r="r" b="b"/>
            <a:pathLst>
              <a:path w="3676650" h="2466975">
                <a:moveTo>
                  <a:pt x="76205" y="0"/>
                </a:moveTo>
                <a:lnTo>
                  <a:pt x="3600445" y="0"/>
                </a:lnTo>
                <a:cubicBezTo>
                  <a:pt x="3642504" y="0"/>
                  <a:pt x="3676650" y="34146"/>
                  <a:pt x="3676650" y="76205"/>
                </a:cubicBezTo>
                <a:lnTo>
                  <a:pt x="3676650" y="2390770"/>
                </a:lnTo>
                <a:cubicBezTo>
                  <a:pt x="3676650" y="2432857"/>
                  <a:pt x="3642532" y="2466975"/>
                  <a:pt x="3600445" y="2466975"/>
                </a:cubicBezTo>
                <a:lnTo>
                  <a:pt x="76205" y="2466975"/>
                </a:lnTo>
                <a:cubicBezTo>
                  <a:pt x="34146" y="2466975"/>
                  <a:pt x="0" y="2432829"/>
                  <a:pt x="0" y="23907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rotWithShape="1" flip="none">
            <a:gsLst>
              <a:gs pos="0">
                <a:srgbClr val="5E7A8E">
                  <a:alpha val="20000"/>
                </a:srgbClr>
              </a:gs>
              <a:gs pos="100000">
                <a:srgbClr val="5E7A8E">
                  <a:alpha val="5000"/>
                </a:srgbClr>
              </a:gs>
            </a:gsLst>
            <a:lin ang="2700000" scaled="1"/>
          </a:gradFill>
          <a:ln w="12700">
            <a:solidFill>
              <a:srgbClr val="5E7A8E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40801" y="424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41" name="Text 39"/>
          <p:cNvSpPr/>
          <p:nvPr/>
        </p:nvSpPr>
        <p:spPr>
          <a:xfrm>
            <a:off x="8280350" y="4857750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Priority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89875" y="5238750"/>
            <a:ext cx="33623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Execute recommendations in parallel where possible, with immediate focus on inventory release and vendor diversification to maximize short-term impact.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adsttc.com/b55a416f18ffac39f9f0eb0e5a61cdc22090848b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3A5F7A">
                  <a:alpha val="7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481012"/>
            <a:ext cx="982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Assessment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823913"/>
            <a:ext cx="100393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Commercial Strength with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Optimization Opportunities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255746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7" name="Shape 4"/>
          <p:cNvSpPr/>
          <p:nvPr/>
        </p:nvSpPr>
        <p:spPr>
          <a:xfrm>
            <a:off x="1409700" y="2557463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8" name="Shape 5"/>
          <p:cNvSpPr/>
          <p:nvPr/>
        </p:nvSpPr>
        <p:spPr>
          <a:xfrm>
            <a:off x="1981200" y="2557463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7A8E"/>
          </a:solidFill>
          <a:ln/>
        </p:spPr>
      </p:sp>
      <p:sp>
        <p:nvSpPr>
          <p:cNvPr id="9" name="Shape 6"/>
          <p:cNvSpPr/>
          <p:nvPr/>
        </p:nvSpPr>
        <p:spPr>
          <a:xfrm>
            <a:off x="385763" y="2905125"/>
            <a:ext cx="4752975" cy="1752600"/>
          </a:xfrm>
          <a:custGeom>
            <a:avLst/>
            <a:gdLst/>
            <a:ahLst/>
            <a:cxnLst/>
            <a:rect l="l" t="t" r="r" b="b"/>
            <a:pathLst>
              <a:path w="4752975" h="1752600">
                <a:moveTo>
                  <a:pt x="76203" y="0"/>
                </a:moveTo>
                <a:lnTo>
                  <a:pt x="4676772" y="0"/>
                </a:lnTo>
                <a:cubicBezTo>
                  <a:pt x="4718858" y="0"/>
                  <a:pt x="4752975" y="34117"/>
                  <a:pt x="4752975" y="76203"/>
                </a:cubicBezTo>
                <a:lnTo>
                  <a:pt x="4752975" y="1676397"/>
                </a:lnTo>
                <a:cubicBezTo>
                  <a:pt x="4752975" y="1718483"/>
                  <a:pt x="4718858" y="1752600"/>
                  <a:pt x="4676772" y="1752600"/>
                </a:cubicBezTo>
                <a:lnTo>
                  <a:pt x="76203" y="1752600"/>
                </a:lnTo>
                <a:cubicBezTo>
                  <a:pt x="34117" y="1752600"/>
                  <a:pt x="0" y="1718483"/>
                  <a:pt x="0" y="16763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7225" y="31480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1" name="Text 8"/>
          <p:cNvSpPr/>
          <p:nvPr/>
        </p:nvSpPr>
        <p:spPr>
          <a:xfrm>
            <a:off x="1090613" y="3138488"/>
            <a:ext cx="1895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Position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9125" y="3595688"/>
            <a:ext cx="437197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business is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commercially strong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healthy profitability, robust revenue generation, and solid market positioning.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76863" y="2905125"/>
            <a:ext cx="4752975" cy="1752600"/>
          </a:xfrm>
          <a:custGeom>
            <a:avLst/>
            <a:gdLst/>
            <a:ahLst/>
            <a:cxnLst/>
            <a:rect l="l" t="t" r="r" b="b"/>
            <a:pathLst>
              <a:path w="4752975" h="1752600">
                <a:moveTo>
                  <a:pt x="76203" y="0"/>
                </a:moveTo>
                <a:lnTo>
                  <a:pt x="4676772" y="0"/>
                </a:lnTo>
                <a:cubicBezTo>
                  <a:pt x="4718858" y="0"/>
                  <a:pt x="4752975" y="34117"/>
                  <a:pt x="4752975" y="76203"/>
                </a:cubicBezTo>
                <a:lnTo>
                  <a:pt x="4752975" y="1676397"/>
                </a:lnTo>
                <a:cubicBezTo>
                  <a:pt x="4752975" y="1718483"/>
                  <a:pt x="4718858" y="1752600"/>
                  <a:pt x="4676772" y="1752600"/>
                </a:cubicBezTo>
                <a:lnTo>
                  <a:pt x="76203" y="1752600"/>
                </a:lnTo>
                <a:cubicBezTo>
                  <a:pt x="34117" y="1752600"/>
                  <a:pt x="0" y="1718483"/>
                  <a:pt x="0" y="16763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4044" y="3148013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19769" y="9711"/>
                </a:moveTo>
                <a:cubicBezTo>
                  <a:pt x="112793" y="2735"/>
                  <a:pt x="101464" y="2735"/>
                  <a:pt x="94487" y="9711"/>
                </a:cubicBezTo>
                <a:lnTo>
                  <a:pt x="5190" y="99008"/>
                </a:lnTo>
                <a:cubicBezTo>
                  <a:pt x="-1786" y="105984"/>
                  <a:pt x="-1786" y="117314"/>
                  <a:pt x="5190" y="124290"/>
                </a:cubicBezTo>
                <a:cubicBezTo>
                  <a:pt x="12167" y="131266"/>
                  <a:pt x="23496" y="131266"/>
                  <a:pt x="30473" y="124290"/>
                </a:cubicBezTo>
                <a:lnTo>
                  <a:pt x="89297" y="65466"/>
                </a:lnTo>
                <a:lnTo>
                  <a:pt x="89297" y="272355"/>
                </a:lnTo>
                <a:cubicBezTo>
                  <a:pt x="89297" y="282234"/>
                  <a:pt x="97278" y="290215"/>
                  <a:pt x="107156" y="290215"/>
                </a:cubicBezTo>
                <a:cubicBezTo>
                  <a:pt x="117035" y="290215"/>
                  <a:pt x="125016" y="282234"/>
                  <a:pt x="125016" y="272355"/>
                </a:cubicBezTo>
                <a:lnTo>
                  <a:pt x="125016" y="65466"/>
                </a:lnTo>
                <a:lnTo>
                  <a:pt x="183840" y="124290"/>
                </a:lnTo>
                <a:cubicBezTo>
                  <a:pt x="190816" y="131266"/>
                  <a:pt x="202146" y="131266"/>
                  <a:pt x="209122" y="124290"/>
                </a:cubicBezTo>
                <a:cubicBezTo>
                  <a:pt x="216098" y="117314"/>
                  <a:pt x="216098" y="105984"/>
                  <a:pt x="209122" y="99008"/>
                </a:cubicBezTo>
                <a:lnTo>
                  <a:pt x="119825" y="9711"/>
                </a:ln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5" name="Text 12"/>
          <p:cNvSpPr/>
          <p:nvPr/>
        </p:nvSpPr>
        <p:spPr>
          <a:xfrm>
            <a:off x="6081713" y="3138488"/>
            <a:ext cx="1952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 Potential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610225" y="3595688"/>
            <a:ext cx="437197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Targeted interventions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vendor management, pricing strategy, and inventory planning can unlock significant additional value.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5763" y="4972050"/>
            <a:ext cx="9744075" cy="1400175"/>
          </a:xfrm>
          <a:custGeom>
            <a:avLst/>
            <a:gdLst/>
            <a:ahLst/>
            <a:cxnLst/>
            <a:rect l="l" t="t" r="r" b="b"/>
            <a:pathLst>
              <a:path w="9744075" h="1400175">
                <a:moveTo>
                  <a:pt x="76198" y="0"/>
                </a:moveTo>
                <a:lnTo>
                  <a:pt x="9667877" y="0"/>
                </a:lnTo>
                <a:cubicBezTo>
                  <a:pt x="9709960" y="0"/>
                  <a:pt x="9744075" y="34115"/>
                  <a:pt x="9744075" y="76198"/>
                </a:cubicBezTo>
                <a:lnTo>
                  <a:pt x="9744075" y="1323977"/>
                </a:lnTo>
                <a:cubicBezTo>
                  <a:pt x="9744075" y="1366060"/>
                  <a:pt x="9709960" y="1400175"/>
                  <a:pt x="9667877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56A">
                  <a:alpha val="20000"/>
                </a:srgbClr>
              </a:gs>
              <a:gs pos="100000">
                <a:srgbClr val="3A5F7A">
                  <a:alpha val="20000"/>
                </a:srgbClr>
              </a:gs>
            </a:gsLst>
            <a:lin ang="0" scaled="1"/>
          </a:gradFill>
          <a:ln w="12700">
            <a:solidFill>
              <a:srgbClr val="C5A56A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4369" y="5243513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C5A56A"/>
          </a:solidFill>
          <a:ln/>
        </p:spPr>
      </p:sp>
      <p:sp>
        <p:nvSpPr>
          <p:cNvPr id="19" name="Text 16"/>
          <p:cNvSpPr/>
          <p:nvPr/>
        </p:nvSpPr>
        <p:spPr>
          <a:xfrm>
            <a:off x="895350" y="5205413"/>
            <a:ext cx="90868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balancing volume growth with margin optimization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reducing dependency risks, the organization can enhance profitability while maintaining operational resilience.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9125" y="5910263"/>
            <a:ext cx="935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report provides leadership with a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clear, data-backed foundation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strategic decision-making.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052298" y="560070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023723" y="582930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C5A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Nithin Arisetty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 Performance &amp; Commercial Efficiency Analysis</dc:title>
  <dc:subject>Vendor Performance &amp; Commercial Efficiency Analysis</dc:subject>
  <dc:creator>Kimi</dc:creator>
  <cp:lastModifiedBy>Kimi</cp:lastModifiedBy>
  <cp:revision>1</cp:revision>
  <dcterms:created xsi:type="dcterms:W3CDTF">2026-02-04T18:28:15Z</dcterms:created>
  <dcterms:modified xsi:type="dcterms:W3CDTF">2026-02-04T18:28:15Z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{"Label":"Vendor Performance &amp; Commercial Efficiency Analysis","ContentProducer":"001191110108MACG2KBH8F10000","ProduceID":"19c29e7c-7f92-8ae4-8000-000026e5e680","ReservedCode1":"","ContentPropagator":"001191110108MACG2KBH8F20000","PropagateID":"19c29e7c-7f92-8ae4-8000-000026e5e680","ReservedCode2":""}</vt:lpwstr>
  </property>
</Properties>
</file>